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6" Type="http://schemas.openxmlformats.org/officeDocument/2006/relationships/slide" Target="slides/slide1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304800" lvl="0" marL="457200" rtl="0" algn="l">
              <a:lnSpc>
                <a:spcPct val="115000"/>
              </a:lnSpc>
              <a:spcBef>
                <a:spcPts val="0"/>
              </a:spcBef>
              <a:spcAft>
                <a:spcPts val="0"/>
              </a:spcAft>
              <a:buClr>
                <a:srgbClr val="595959"/>
              </a:buClr>
              <a:buSzPts val="1200"/>
              <a:buChar char="●"/>
            </a:pPr>
            <a:r>
              <a:rPr lang="en" sz="1200">
                <a:solidFill>
                  <a:srgbClr val="595959"/>
                </a:solidFill>
              </a:rPr>
              <a:t>Introduce the app and explain the purpose</a:t>
            </a:r>
            <a:endParaRPr sz="1200">
              <a:solidFill>
                <a:srgbClr val="595959"/>
              </a:solidFill>
            </a:endParaRPr>
          </a:p>
          <a:p>
            <a:pPr indent="-304800" lvl="1" marL="914400" rtl="0" algn="l">
              <a:lnSpc>
                <a:spcPct val="115000"/>
              </a:lnSpc>
              <a:spcBef>
                <a:spcPts val="0"/>
              </a:spcBef>
              <a:spcAft>
                <a:spcPts val="0"/>
              </a:spcAft>
              <a:buClr>
                <a:srgbClr val="595959"/>
              </a:buClr>
              <a:buSzPts val="1200"/>
              <a:buChar char="○"/>
            </a:pPr>
            <a:r>
              <a:rPr lang="en" sz="1200">
                <a:solidFill>
                  <a:srgbClr val="595959"/>
                </a:solidFill>
              </a:rPr>
              <a:t>Share articles and data from any site (ex: wikipedia articles, books, movies, songs, etc..)</a:t>
            </a:r>
            <a:endParaRPr sz="1200">
              <a:solidFill>
                <a:srgbClr val="595959"/>
              </a:solidFill>
            </a:endParaRPr>
          </a:p>
          <a:p>
            <a:pPr indent="-304800" lvl="0" marL="457200" rtl="0" algn="l">
              <a:lnSpc>
                <a:spcPct val="115000"/>
              </a:lnSpc>
              <a:spcBef>
                <a:spcPts val="0"/>
              </a:spcBef>
              <a:spcAft>
                <a:spcPts val="0"/>
              </a:spcAft>
              <a:buClr>
                <a:srgbClr val="595959"/>
              </a:buClr>
              <a:buSzPts val="1200"/>
              <a:buChar char="●"/>
            </a:pPr>
            <a:r>
              <a:rPr lang="en" sz="1200">
                <a:solidFill>
                  <a:srgbClr val="595959"/>
                </a:solidFill>
              </a:rPr>
              <a:t>Explain what makes it different/talk about the “uniqueness” of the app</a:t>
            </a:r>
            <a:endParaRPr sz="1200">
              <a:solidFill>
                <a:srgbClr val="595959"/>
              </a:solidFill>
            </a:endParaRPr>
          </a:p>
          <a:p>
            <a:pPr indent="-304800" lvl="1" marL="914400" rtl="0" algn="l">
              <a:lnSpc>
                <a:spcPct val="115000"/>
              </a:lnSpc>
              <a:spcBef>
                <a:spcPts val="0"/>
              </a:spcBef>
              <a:spcAft>
                <a:spcPts val="0"/>
              </a:spcAft>
              <a:buClr>
                <a:srgbClr val="595959"/>
              </a:buClr>
              <a:buSzPts val="1200"/>
              <a:buChar char="○"/>
            </a:pPr>
            <a:r>
              <a:rPr lang="en" sz="1200">
                <a:solidFill>
                  <a:srgbClr val="595959"/>
                </a:solidFill>
              </a:rPr>
              <a:t>Can view which pieces of media are frequently similar to help discover similar topics (ex: books/movies which cover similar concepts)</a:t>
            </a:r>
            <a:endParaRPr sz="1200">
              <a:solidFill>
                <a:srgbClr val="595959"/>
              </a:solidFill>
            </a:endParaRPr>
          </a:p>
          <a:p>
            <a:pPr indent="-304800" lvl="2" marL="1371600" rtl="0" algn="l">
              <a:lnSpc>
                <a:spcPct val="115000"/>
              </a:lnSpc>
              <a:spcBef>
                <a:spcPts val="0"/>
              </a:spcBef>
              <a:spcAft>
                <a:spcPts val="0"/>
              </a:spcAft>
              <a:buClr>
                <a:srgbClr val="595959"/>
              </a:buClr>
              <a:buSzPts val="1200"/>
              <a:buChar char="■"/>
            </a:pPr>
            <a:r>
              <a:rPr lang="en" sz="1200">
                <a:solidFill>
                  <a:srgbClr val="595959"/>
                </a:solidFill>
              </a:rPr>
              <a:t>User defined links to help discover what is similar</a:t>
            </a:r>
            <a:endParaRPr sz="1200">
              <a:solidFill>
                <a:srgbClr val="595959"/>
              </a:solidFill>
            </a:endParaRPr>
          </a:p>
          <a:p>
            <a:pPr indent="-304800" lvl="1" marL="914400" rtl="0" algn="l">
              <a:lnSpc>
                <a:spcPct val="115000"/>
              </a:lnSpc>
              <a:spcBef>
                <a:spcPts val="0"/>
              </a:spcBef>
              <a:spcAft>
                <a:spcPts val="0"/>
              </a:spcAft>
              <a:buClr>
                <a:srgbClr val="595959"/>
              </a:buClr>
              <a:buSzPts val="1200"/>
              <a:buChar char="○"/>
            </a:pPr>
            <a:r>
              <a:rPr lang="en" sz="1200">
                <a:solidFill>
                  <a:srgbClr val="595959"/>
                </a:solidFill>
              </a:rPr>
              <a:t>Serves as a “database of databases” in a way, where it combines information from plenty of other databases into one easily accessible area</a:t>
            </a:r>
            <a:endParaRPr sz="1200">
              <a:solidFill>
                <a:srgbClr val="595959"/>
              </a:solidFill>
            </a:endParaRPr>
          </a:p>
          <a:p>
            <a:pPr indent="-304800" lvl="1" marL="914400" rtl="0" algn="l">
              <a:lnSpc>
                <a:spcPct val="115000"/>
              </a:lnSpc>
              <a:spcBef>
                <a:spcPts val="0"/>
              </a:spcBef>
              <a:spcAft>
                <a:spcPts val="0"/>
              </a:spcAft>
              <a:buClr>
                <a:srgbClr val="595959"/>
              </a:buClr>
              <a:buSzPts val="1200"/>
              <a:buChar char="○"/>
            </a:pPr>
            <a:r>
              <a:rPr lang="en" sz="1200">
                <a:solidFill>
                  <a:srgbClr val="595959"/>
                </a:solidFill>
              </a:rPr>
              <a:t>Can catalogue and favorite the pieces of media, and view other people’s catalogues to find new and interesting articles which you likely would not have found otherwise</a:t>
            </a:r>
            <a:endParaRPr sz="1200">
              <a:solidFill>
                <a:srgbClr val="595959"/>
              </a:solidFill>
            </a:endParaRPr>
          </a:p>
          <a:p>
            <a:pPr indent="-304800" lvl="1" marL="914400" rtl="0" algn="l">
              <a:lnSpc>
                <a:spcPct val="115000"/>
              </a:lnSpc>
              <a:spcBef>
                <a:spcPts val="0"/>
              </a:spcBef>
              <a:spcAft>
                <a:spcPts val="0"/>
              </a:spcAft>
              <a:buClr>
                <a:srgbClr val="595959"/>
              </a:buClr>
              <a:buSzPts val="1200"/>
              <a:buChar char="○"/>
            </a:pPr>
            <a:r>
              <a:rPr lang="en" sz="1200">
                <a:solidFill>
                  <a:srgbClr val="595959"/>
                </a:solidFill>
              </a:rPr>
              <a:t>Users can also control the type of articles they see, whether by primarily looking at articles that are linked to ones they are already interested in, or by limiting/blocking sites they do not want to see (ex: news sites)</a:t>
            </a:r>
            <a:endParaRPr sz="1200">
              <a:solidFill>
                <a:srgbClr val="595959"/>
              </a:solidFill>
            </a:endParaRPr>
          </a:p>
          <a:p>
            <a:pPr indent="-304800" lvl="0" marL="457200" rtl="0" algn="l">
              <a:lnSpc>
                <a:spcPct val="115000"/>
              </a:lnSpc>
              <a:spcBef>
                <a:spcPts val="0"/>
              </a:spcBef>
              <a:spcAft>
                <a:spcPts val="0"/>
              </a:spcAft>
              <a:buClr>
                <a:srgbClr val="595959"/>
              </a:buClr>
              <a:buSzPts val="1200"/>
              <a:buChar char="●"/>
            </a:pPr>
            <a:r>
              <a:rPr lang="en" sz="1200">
                <a:solidFill>
                  <a:srgbClr val="595959"/>
                </a:solidFill>
              </a:rPr>
              <a:t>Explain who will use the app</a:t>
            </a:r>
            <a:endParaRPr sz="1200">
              <a:solidFill>
                <a:srgbClr val="595959"/>
              </a:solidFill>
            </a:endParaRPr>
          </a:p>
          <a:p>
            <a:pPr indent="-304800" lvl="1" marL="914400" rtl="0" algn="l">
              <a:lnSpc>
                <a:spcPct val="115000"/>
              </a:lnSpc>
              <a:spcBef>
                <a:spcPts val="0"/>
              </a:spcBef>
              <a:spcAft>
                <a:spcPts val="0"/>
              </a:spcAft>
              <a:buClr>
                <a:srgbClr val="595959"/>
              </a:buClr>
              <a:buSzPts val="1200"/>
              <a:buChar char="○"/>
            </a:pPr>
            <a:r>
              <a:rPr lang="en" sz="1200">
                <a:solidFill>
                  <a:srgbClr val="595959"/>
                </a:solidFill>
              </a:rPr>
              <a:t>General audience, not business/industry targeted. Different types of users:</a:t>
            </a:r>
            <a:endParaRPr sz="1200">
              <a:solidFill>
                <a:srgbClr val="595959"/>
              </a:solidFill>
            </a:endParaRPr>
          </a:p>
          <a:p>
            <a:pPr indent="-304800" lvl="1" marL="914400" rtl="0" algn="l">
              <a:lnSpc>
                <a:spcPct val="115000"/>
              </a:lnSpc>
              <a:spcBef>
                <a:spcPts val="0"/>
              </a:spcBef>
              <a:spcAft>
                <a:spcPts val="0"/>
              </a:spcAft>
              <a:buClr>
                <a:srgbClr val="595959"/>
              </a:buClr>
              <a:buSzPts val="1200"/>
              <a:buChar char="○"/>
            </a:pPr>
            <a:r>
              <a:rPr lang="en" sz="1200">
                <a:solidFill>
                  <a:srgbClr val="595959"/>
                </a:solidFill>
              </a:rPr>
              <a:t>1: Sharer who wants more people to see certain interesting items</a:t>
            </a:r>
            <a:endParaRPr sz="1200">
              <a:solidFill>
                <a:srgbClr val="595959"/>
              </a:solidFill>
            </a:endParaRPr>
          </a:p>
          <a:p>
            <a:pPr indent="-304800" lvl="1" marL="914400" rtl="0" algn="l">
              <a:lnSpc>
                <a:spcPct val="115000"/>
              </a:lnSpc>
              <a:spcBef>
                <a:spcPts val="0"/>
              </a:spcBef>
              <a:spcAft>
                <a:spcPts val="0"/>
              </a:spcAft>
              <a:buClr>
                <a:srgbClr val="595959"/>
              </a:buClr>
              <a:buSzPts val="1200"/>
              <a:buChar char="○"/>
            </a:pPr>
            <a:r>
              <a:rPr lang="en" sz="1200">
                <a:solidFill>
                  <a:srgbClr val="595959"/>
                </a:solidFill>
              </a:rPr>
              <a:t>2: Browser who wants to find interesting items</a:t>
            </a:r>
            <a:endParaRPr sz="1200">
              <a:solidFill>
                <a:srgbClr val="595959"/>
              </a:solidFill>
            </a:endParaRPr>
          </a:p>
          <a:p>
            <a:pPr indent="-304800" lvl="1" marL="914400" rtl="0" algn="l">
              <a:lnSpc>
                <a:spcPct val="115000"/>
              </a:lnSpc>
              <a:spcBef>
                <a:spcPts val="0"/>
              </a:spcBef>
              <a:spcAft>
                <a:spcPts val="0"/>
              </a:spcAft>
              <a:buClr>
                <a:srgbClr val="595959"/>
              </a:buClr>
              <a:buSzPts val="1200"/>
              <a:buChar char="○"/>
            </a:pPr>
            <a:r>
              <a:rPr lang="en" sz="1200">
                <a:solidFill>
                  <a:srgbClr val="595959"/>
                </a:solidFill>
              </a:rPr>
              <a:t>3: Journaler recording personal history of items read/watched/listened to</a:t>
            </a:r>
            <a:endParaRPr sz="1200">
              <a:solidFill>
                <a:srgbClr val="595959"/>
              </a:solidFill>
            </a:endParaRPr>
          </a:p>
          <a:p>
            <a:pPr indent="-304800" lvl="0" marL="457200" rtl="0" algn="l">
              <a:lnSpc>
                <a:spcPct val="115000"/>
              </a:lnSpc>
              <a:spcBef>
                <a:spcPts val="0"/>
              </a:spcBef>
              <a:spcAft>
                <a:spcPts val="0"/>
              </a:spcAft>
              <a:buClr>
                <a:srgbClr val="595959"/>
              </a:buClr>
              <a:buSzPts val="1200"/>
              <a:buChar char="●"/>
            </a:pPr>
            <a:r>
              <a:rPr lang="en" sz="1200">
                <a:solidFill>
                  <a:srgbClr val="595959"/>
                </a:solidFill>
              </a:rPr>
              <a:t>Explain how the relationship schema will work</a:t>
            </a:r>
            <a:endParaRPr sz="1200">
              <a:solidFill>
                <a:srgbClr val="595959"/>
              </a:solidFill>
            </a:endParaRPr>
          </a:p>
          <a:p>
            <a:pPr indent="-304800" lvl="1" marL="914400" rtl="0" algn="l">
              <a:lnSpc>
                <a:spcPct val="115000"/>
              </a:lnSpc>
              <a:spcBef>
                <a:spcPts val="0"/>
              </a:spcBef>
              <a:spcAft>
                <a:spcPts val="0"/>
              </a:spcAft>
              <a:buClr>
                <a:srgbClr val="595959"/>
              </a:buClr>
              <a:buSzPts val="1200"/>
              <a:buChar char="○"/>
            </a:pPr>
            <a:r>
              <a:rPr lang="en" sz="1200">
                <a:solidFill>
                  <a:srgbClr val="595959"/>
                </a:solidFill>
              </a:rPr>
              <a:t>Mostly standard entity sets for a forum-based site like Users, Topics (ForumThreads), Messages</a:t>
            </a:r>
            <a:endParaRPr sz="1200">
              <a:solidFill>
                <a:srgbClr val="595959"/>
              </a:solidFill>
            </a:endParaRPr>
          </a:p>
          <a:p>
            <a:pPr indent="-304800" lvl="1" marL="914400" rtl="0" algn="l">
              <a:lnSpc>
                <a:spcPct val="115000"/>
              </a:lnSpc>
              <a:spcBef>
                <a:spcPts val="0"/>
              </a:spcBef>
              <a:spcAft>
                <a:spcPts val="0"/>
              </a:spcAft>
              <a:buClr>
                <a:srgbClr val="595959"/>
              </a:buClr>
              <a:buSzPts val="1200"/>
              <a:buChar char="○"/>
            </a:pPr>
            <a:r>
              <a:rPr lang="en" sz="1200">
                <a:solidFill>
                  <a:srgbClr val="595959"/>
                </a:solidFill>
              </a:rPr>
              <a:t>Unique features include ExternalRecords, which gives structured classification of external items</a:t>
            </a:r>
            <a:endParaRPr sz="1200">
              <a:solidFill>
                <a:srgbClr val="595959"/>
              </a:solidFill>
            </a:endParaRPr>
          </a:p>
          <a:p>
            <a:pPr indent="-304800" lvl="1" marL="914400" rtl="0" algn="l">
              <a:lnSpc>
                <a:spcPct val="115000"/>
              </a:lnSpc>
              <a:spcBef>
                <a:spcPts val="0"/>
              </a:spcBef>
              <a:spcAft>
                <a:spcPts val="0"/>
              </a:spcAft>
              <a:buClr>
                <a:srgbClr val="595959"/>
              </a:buClr>
              <a:buSzPts val="1200"/>
              <a:buChar char="○"/>
            </a:pPr>
            <a:r>
              <a:rPr lang="en" sz="1200">
                <a:solidFill>
                  <a:srgbClr val="595959"/>
                </a:solidFill>
              </a:rPr>
              <a:t>Another unique feature in user-defined InternalLinks to show relationships between different items </a:t>
            </a:r>
            <a:endParaRPr sz="1200">
              <a:solidFill>
                <a:srgbClr val="595959"/>
              </a:solidFill>
            </a:endParaRPr>
          </a:p>
          <a:p>
            <a:pPr indent="-304800" lvl="2" marL="1371600" rtl="0" algn="l">
              <a:lnSpc>
                <a:spcPct val="115000"/>
              </a:lnSpc>
              <a:spcBef>
                <a:spcPts val="0"/>
              </a:spcBef>
              <a:spcAft>
                <a:spcPts val="0"/>
              </a:spcAft>
              <a:buClr>
                <a:srgbClr val="595959"/>
              </a:buClr>
              <a:buSzPts val="1200"/>
              <a:buChar char="■"/>
            </a:pPr>
            <a:r>
              <a:rPr lang="en" sz="1200">
                <a:solidFill>
                  <a:srgbClr val="595959"/>
                </a:solidFill>
              </a:rPr>
              <a:t>Doesn’t have to have direct links (ex sequels of media) just if they might have similar vibes</a:t>
            </a:r>
            <a:endParaRPr sz="1200">
              <a:solidFill>
                <a:srgbClr val="595959"/>
              </a:solidFill>
            </a:endParaRPr>
          </a:p>
          <a:p>
            <a:pPr indent="-304800" lvl="3" marL="1828800" rtl="0" algn="l">
              <a:lnSpc>
                <a:spcPct val="115000"/>
              </a:lnSpc>
              <a:spcBef>
                <a:spcPts val="0"/>
              </a:spcBef>
              <a:spcAft>
                <a:spcPts val="0"/>
              </a:spcAft>
              <a:buClr>
                <a:srgbClr val="595959"/>
              </a:buClr>
              <a:buSzPts val="1200"/>
              <a:buChar char="●"/>
            </a:pPr>
            <a:r>
              <a:rPr lang="en" sz="1200">
                <a:solidFill>
                  <a:srgbClr val="595959"/>
                </a:solidFill>
              </a:rPr>
              <a:t>Can be viewed as pooling databases together and letting the user find new media to enjoy</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h5f3df1fb1593ad03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h5f3df1fb1593ad03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h1b8e00ba6a0a3b3a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h1b8e00ba6a0a3b3a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h1b8e00ba6a0a3b3a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h1b8e00ba6a0a3b3a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h1b8e00ba6a0a3b3a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h1b8e00ba6a0a3b3a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h1b8e00ba6a0a3b3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 name="Google Shape;83;h1b8e00ba6a0a3b3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h1b8e00ba6a0a3b3a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 name="Google Shape;93;h1b8e00ba6a0a3b3a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h1b8e00ba6a0a3b3a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h1b8e00ba6a0a3b3a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h62820ca2003c78b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 name="Google Shape;107;h62820ca2003c78b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h1b8e00ba6a0a3b3a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h1b8e00ba6a0a3b3a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h1b8e00ba6a0a3b3a_0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 name="Google Shape;121;h1b8e00ba6a0a3b3a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a:noFill/>
        </p:spPr>
        <p:txBody>
          <a:bodyPr anchorCtr="0" anchor="b" bIns="91425" lIns="91425" spcFirstLastPara="1" rIns="91425" wrap="square" tIns="91425">
            <a:normAutofit/>
          </a:bodyPr>
          <a:lstStyle/>
          <a:p>
            <a:pPr indent="0" lvl="0" marL="0" rtl="0" algn="ctr">
              <a:spcBef>
                <a:spcPts val="0"/>
              </a:spcBef>
              <a:spcAft>
                <a:spcPts val="0"/>
              </a:spcAft>
              <a:buNone/>
            </a:pPr>
            <a:r>
              <a:rPr lang="en" u="sng">
                <a:solidFill>
                  <a:schemeClr val="accent1"/>
                </a:solidFill>
              </a:rPr>
              <a:t>Link</a:t>
            </a:r>
            <a:r>
              <a:rPr lang="en"/>
              <a:t>Hyper</a:t>
            </a:r>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Ryan Hsiao &amp; Sathya McKinzie</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Introduction</a:t>
            </a:r>
            <a:endParaRPr/>
          </a:p>
        </p:txBody>
      </p:sp>
      <p:sp>
        <p:nvSpPr>
          <p:cNvPr id="61" name="Google Shape;61;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2000"/>
              <a:t>LinkHyper is a web app that enables users to catalog, share, and discuss media of arbitrary format.</a:t>
            </a:r>
            <a:endParaRPr sz="2000"/>
          </a:p>
          <a:p>
            <a:pPr indent="0" lvl="0" marL="0" rtl="0" algn="l">
              <a:spcBef>
                <a:spcPts val="1200"/>
              </a:spcBef>
              <a:spcAft>
                <a:spcPts val="1200"/>
              </a:spcAft>
              <a:buNone/>
            </a:pPr>
            <a:r>
              <a:rPr lang="en" sz="2000"/>
              <a:t>Each media item can be referred to in a structured way, collated from any desired external database, and users can define links between items in order to document the complex relationships between them.</a:t>
            </a:r>
            <a:endParaRPr sz="20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Purpose of the app 1</a:t>
            </a:r>
            <a:endParaRPr/>
          </a:p>
        </p:txBody>
      </p:sp>
      <p:sp>
        <p:nvSpPr>
          <p:cNvPr id="67" name="Google Shape;67;p1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2500"/>
              <a:t>What makes this app different from existing options?</a:t>
            </a:r>
            <a:endParaRPr sz="2500"/>
          </a:p>
          <a:p>
            <a:pPr indent="-317500" lvl="0" marL="457200" rtl="0" algn="l">
              <a:spcBef>
                <a:spcPts val="1200"/>
              </a:spcBef>
              <a:spcAft>
                <a:spcPts val="0"/>
              </a:spcAft>
              <a:buSzPts val="1400"/>
              <a:buChar char="●"/>
            </a:pPr>
            <a:r>
              <a:rPr lang="en" sz="1400"/>
              <a:t>Can view which pieces of media are frequently similar to help discover similar topics (ex: books/movies which cover similar concepts)</a:t>
            </a:r>
            <a:endParaRPr sz="1400"/>
          </a:p>
          <a:p>
            <a:pPr indent="-317500" lvl="1" marL="914400" rtl="0" algn="l">
              <a:spcBef>
                <a:spcPts val="0"/>
              </a:spcBef>
              <a:spcAft>
                <a:spcPts val="0"/>
              </a:spcAft>
              <a:buSzPts val="1400"/>
              <a:buChar char="○"/>
            </a:pPr>
            <a:r>
              <a:rPr lang="en"/>
              <a:t>User defined links to help discover what is similar</a:t>
            </a:r>
            <a:endParaRPr/>
          </a:p>
          <a:p>
            <a:pPr indent="-317500" lvl="0" marL="457200" rtl="0" algn="l">
              <a:spcBef>
                <a:spcPts val="0"/>
              </a:spcBef>
              <a:spcAft>
                <a:spcPts val="0"/>
              </a:spcAft>
              <a:buSzPts val="1400"/>
              <a:buChar char="●"/>
            </a:pPr>
            <a:r>
              <a:rPr lang="en" sz="1400"/>
              <a:t>Serves as a “database of databases” in a way, where it combines information from plenty of other databases into one easily accessible area</a:t>
            </a:r>
            <a:endParaRPr sz="1400"/>
          </a:p>
          <a:p>
            <a:pPr indent="-317500" lvl="0" marL="457200" rtl="0" algn="l">
              <a:spcBef>
                <a:spcPts val="0"/>
              </a:spcBef>
              <a:spcAft>
                <a:spcPts val="0"/>
              </a:spcAft>
              <a:buSzPts val="1400"/>
              <a:buChar char="●"/>
            </a:pPr>
            <a:r>
              <a:rPr lang="en" sz="1400"/>
              <a:t>Can catalogue and favorite the pieces of media, and view other people’s catalogues to find new and interesting articles which you likely would not have found otherwise</a:t>
            </a:r>
            <a:endParaRPr sz="1400"/>
          </a:p>
          <a:p>
            <a:pPr indent="-317500" lvl="0" marL="457200" rtl="0" algn="l">
              <a:spcBef>
                <a:spcPts val="0"/>
              </a:spcBef>
              <a:spcAft>
                <a:spcPts val="0"/>
              </a:spcAft>
              <a:buSzPts val="1400"/>
              <a:buChar char="●"/>
            </a:pPr>
            <a:r>
              <a:rPr lang="en" sz="1400"/>
              <a:t>Users can also control the type of articles they see, whether by primarily looking at articles that are linked to ones they are already interested in, or by limiting/blocking sites they do not want to see (ex: news sites)</a:t>
            </a:r>
            <a:endParaRPr sz="14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Purpose of the app 2</a:t>
            </a:r>
            <a:endParaRPr/>
          </a:p>
        </p:txBody>
      </p:sp>
      <p:sp>
        <p:nvSpPr>
          <p:cNvPr id="73" name="Google Shape;73;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2500"/>
              <a:t>Planned pages in UI</a:t>
            </a:r>
            <a:endParaRPr sz="2500"/>
          </a:p>
          <a:p>
            <a:pPr indent="0" lvl="0" marL="0" rtl="0" algn="l">
              <a:spcBef>
                <a:spcPts val="1200"/>
              </a:spcBef>
              <a:spcAft>
                <a:spcPts val="0"/>
              </a:spcAft>
              <a:buNone/>
            </a:pPr>
            <a:r>
              <a:t/>
            </a:r>
            <a:endParaRPr sz="2000"/>
          </a:p>
          <a:p>
            <a:pPr indent="-355600" lvl="0" marL="457200" rtl="0" algn="l">
              <a:spcBef>
                <a:spcPts val="1200"/>
              </a:spcBef>
              <a:spcAft>
                <a:spcPts val="0"/>
              </a:spcAft>
              <a:buSzPts val="2000"/>
              <a:buChar char="●"/>
            </a:pPr>
            <a:r>
              <a:rPr lang="en" sz="2000"/>
              <a:t>Page to view favorited articles either by you, or by other people</a:t>
            </a:r>
            <a:endParaRPr sz="2000"/>
          </a:p>
          <a:p>
            <a:pPr indent="-355600" lvl="0" marL="457200" rtl="0" algn="l">
              <a:spcBef>
                <a:spcPts val="0"/>
              </a:spcBef>
              <a:spcAft>
                <a:spcPts val="0"/>
              </a:spcAft>
              <a:buSzPts val="2000"/>
              <a:buChar char="●"/>
            </a:pPr>
            <a:r>
              <a:rPr lang="en" sz="2000"/>
              <a:t>Pages for each article to show commonly linked other articles</a:t>
            </a:r>
            <a:endParaRPr sz="2000"/>
          </a:p>
          <a:p>
            <a:pPr indent="-355600" lvl="0" marL="457200" rtl="0" algn="l">
              <a:spcBef>
                <a:spcPts val="0"/>
              </a:spcBef>
              <a:spcAft>
                <a:spcPts val="0"/>
              </a:spcAft>
              <a:buSzPts val="2000"/>
              <a:buChar char="●"/>
            </a:pPr>
            <a:r>
              <a:rPr lang="en" sz="2000"/>
              <a:t>Page to view most popular type of articles over specific time period</a:t>
            </a:r>
            <a:endParaRPr sz="20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7" name="Shape 77"/>
        <p:cNvGrpSpPr/>
        <p:nvPr/>
      </p:nvGrpSpPr>
      <p:grpSpPr>
        <a:xfrm>
          <a:off x="0" y="0"/>
          <a:ext cx="0" cy="0"/>
          <a:chOff x="0" y="0"/>
          <a:chExt cx="0" cy="0"/>
        </a:xfrm>
      </p:grpSpPr>
      <p:sp>
        <p:nvSpPr>
          <p:cNvPr id="78" name="Google Shape;78;p17"/>
          <p:cNvSpPr txBox="1"/>
          <p:nvPr/>
        </p:nvSpPr>
        <p:spPr>
          <a:xfrm>
            <a:off x="297900" y="1076375"/>
            <a:ext cx="2222400" cy="3509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1"/>
                </a:solidFill>
              </a:rPr>
              <a:t>F</a:t>
            </a:r>
            <a:r>
              <a:rPr lang="en" sz="1800">
                <a:solidFill>
                  <a:schemeClr val="dk1"/>
                </a:solidFill>
              </a:rPr>
              <a:t>eatures of Users, Messages, ForumThreads, etc. are typical in social media type apps.</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0" lvl="0" marL="0" rtl="0" algn="l">
              <a:spcBef>
                <a:spcPts val="0"/>
              </a:spcBef>
              <a:spcAft>
                <a:spcPts val="0"/>
              </a:spcAft>
              <a:buNone/>
            </a:pPr>
            <a:r>
              <a:rPr lang="en" sz="1800">
                <a:solidFill>
                  <a:schemeClr val="dk1"/>
                </a:solidFill>
              </a:rPr>
              <a:t>Features of ExternalRecords, InternalLink reflect the more unique aspects of LinkHyper.</a:t>
            </a:r>
            <a:endParaRPr sz="1800">
              <a:solidFill>
                <a:schemeClr val="dk1"/>
              </a:solidFill>
            </a:endParaRPr>
          </a:p>
        </p:txBody>
      </p:sp>
      <p:pic>
        <p:nvPicPr>
          <p:cNvPr id="79" name="Google Shape;79;p17" title="checkpoint1-er-diagram.drawio.png"/>
          <p:cNvPicPr preferRelativeResize="0"/>
          <p:nvPr/>
        </p:nvPicPr>
        <p:blipFill rotWithShape="1">
          <a:blip r:embed="rId3">
            <a:alphaModFix/>
          </a:blip>
          <a:srcRect b="2563" l="0" r="1361" t="0"/>
          <a:stretch/>
        </p:blipFill>
        <p:spPr>
          <a:xfrm>
            <a:off x="2365500" y="476250"/>
            <a:ext cx="6452424" cy="4354276"/>
          </a:xfrm>
          <a:prstGeom prst="rect">
            <a:avLst/>
          </a:prstGeom>
          <a:noFill/>
          <a:ln>
            <a:noFill/>
          </a:ln>
        </p:spPr>
      </p:pic>
      <p:sp>
        <p:nvSpPr>
          <p:cNvPr id="80" name="Google Shape;80;p17"/>
          <p:cNvSpPr txBox="1"/>
          <p:nvPr>
            <p:ph idx="1" type="body"/>
          </p:nvPr>
        </p:nvSpPr>
        <p:spPr>
          <a:xfrm>
            <a:off x="297900" y="303950"/>
            <a:ext cx="2585700" cy="572700"/>
          </a:xfrm>
          <a:prstGeom prst="rect">
            <a:avLst/>
          </a:prstGeom>
        </p:spPr>
        <p:txBody>
          <a:bodyPr anchorCtr="0" anchor="t" bIns="91425" lIns="91425" spcFirstLastPara="1" rIns="91425" wrap="square" tIns="91425">
            <a:normAutofit fontScale="92500"/>
          </a:bodyPr>
          <a:lstStyle/>
          <a:p>
            <a:pPr indent="0" lvl="0" marL="0" rtl="0" algn="l">
              <a:spcBef>
                <a:spcPts val="0"/>
              </a:spcBef>
              <a:spcAft>
                <a:spcPts val="1200"/>
              </a:spcAft>
              <a:buNone/>
            </a:pPr>
            <a:r>
              <a:rPr lang="en" sz="2700">
                <a:solidFill>
                  <a:schemeClr val="dk1"/>
                </a:solidFill>
              </a:rPr>
              <a:t>E/R Diagram 1</a:t>
            </a:r>
            <a:endParaRPr sz="2700">
              <a:solidFill>
                <a:schemeClr val="dk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4" name="Shape 84"/>
        <p:cNvGrpSpPr/>
        <p:nvPr/>
      </p:nvGrpSpPr>
      <p:grpSpPr>
        <a:xfrm>
          <a:off x="0" y="0"/>
          <a:ext cx="0" cy="0"/>
          <a:chOff x="0" y="0"/>
          <a:chExt cx="0" cy="0"/>
        </a:xfrm>
      </p:grpSpPr>
      <p:sp>
        <p:nvSpPr>
          <p:cNvPr id="85" name="Google Shape;85;p18"/>
          <p:cNvSpPr txBox="1"/>
          <p:nvPr/>
        </p:nvSpPr>
        <p:spPr>
          <a:xfrm>
            <a:off x="297900" y="1076375"/>
            <a:ext cx="2222400" cy="2678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1"/>
                </a:solidFill>
              </a:rPr>
              <a:t>There are 3 m</a:t>
            </a:r>
            <a:r>
              <a:rPr lang="en" sz="1800">
                <a:solidFill>
                  <a:schemeClr val="dk1"/>
                </a:solidFill>
              </a:rPr>
              <a:t>any-to-many relationships, those being Follows, LikesArtifact, and InternalLink.</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0" lvl="0" marL="0" rtl="0" algn="l">
              <a:spcBef>
                <a:spcPts val="0"/>
              </a:spcBef>
              <a:spcAft>
                <a:spcPts val="0"/>
              </a:spcAft>
              <a:buNone/>
            </a:pPr>
            <a:r>
              <a:rPr lang="en" sz="1800">
                <a:solidFill>
                  <a:schemeClr val="dk1"/>
                </a:solidFill>
              </a:rPr>
              <a:t>They are circled in red to the right.</a:t>
            </a:r>
            <a:endParaRPr sz="1800">
              <a:solidFill>
                <a:schemeClr val="dk1"/>
              </a:solidFill>
            </a:endParaRPr>
          </a:p>
        </p:txBody>
      </p:sp>
      <p:pic>
        <p:nvPicPr>
          <p:cNvPr id="86" name="Google Shape;86;p18" title="checkpoint1-er-diagram.drawio.png"/>
          <p:cNvPicPr preferRelativeResize="0"/>
          <p:nvPr/>
        </p:nvPicPr>
        <p:blipFill rotWithShape="1">
          <a:blip r:embed="rId3">
            <a:alphaModFix/>
          </a:blip>
          <a:srcRect b="2563" l="0" r="1361" t="0"/>
          <a:stretch/>
        </p:blipFill>
        <p:spPr>
          <a:xfrm>
            <a:off x="2365500" y="476250"/>
            <a:ext cx="6452424" cy="4354276"/>
          </a:xfrm>
          <a:prstGeom prst="rect">
            <a:avLst/>
          </a:prstGeom>
          <a:noFill/>
          <a:ln>
            <a:noFill/>
          </a:ln>
        </p:spPr>
      </p:pic>
      <p:sp>
        <p:nvSpPr>
          <p:cNvPr id="87" name="Google Shape;87;p18"/>
          <p:cNvSpPr txBox="1"/>
          <p:nvPr>
            <p:ph idx="1" type="body"/>
          </p:nvPr>
        </p:nvSpPr>
        <p:spPr>
          <a:xfrm>
            <a:off x="297900" y="303950"/>
            <a:ext cx="2585700" cy="572700"/>
          </a:xfrm>
          <a:prstGeom prst="rect">
            <a:avLst/>
          </a:prstGeom>
        </p:spPr>
        <p:txBody>
          <a:bodyPr anchorCtr="0" anchor="t" bIns="91425" lIns="91425" spcFirstLastPara="1" rIns="91425" wrap="square" tIns="91425">
            <a:normAutofit fontScale="92500"/>
          </a:bodyPr>
          <a:lstStyle/>
          <a:p>
            <a:pPr indent="0" lvl="0" marL="0" rtl="0" algn="l">
              <a:spcBef>
                <a:spcPts val="0"/>
              </a:spcBef>
              <a:spcAft>
                <a:spcPts val="1200"/>
              </a:spcAft>
              <a:buNone/>
            </a:pPr>
            <a:r>
              <a:rPr lang="en" sz="2700">
                <a:solidFill>
                  <a:schemeClr val="dk1"/>
                </a:solidFill>
              </a:rPr>
              <a:t>E/R Diagram 2</a:t>
            </a:r>
            <a:endParaRPr sz="2700">
              <a:solidFill>
                <a:schemeClr val="dk1"/>
              </a:solidFill>
            </a:endParaRPr>
          </a:p>
        </p:txBody>
      </p:sp>
      <p:sp>
        <p:nvSpPr>
          <p:cNvPr id="88" name="Google Shape;88;p18"/>
          <p:cNvSpPr/>
          <p:nvPr/>
        </p:nvSpPr>
        <p:spPr>
          <a:xfrm>
            <a:off x="6805675" y="556850"/>
            <a:ext cx="996300" cy="703500"/>
          </a:xfrm>
          <a:prstGeom prst="ellipse">
            <a:avLst/>
          </a:prstGeom>
          <a:noFill/>
          <a:ln cap="flat" cmpd="sng" w="762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9" name="Google Shape;89;p18"/>
          <p:cNvSpPr/>
          <p:nvPr/>
        </p:nvSpPr>
        <p:spPr>
          <a:xfrm>
            <a:off x="4572000" y="1485925"/>
            <a:ext cx="841500" cy="703500"/>
          </a:xfrm>
          <a:prstGeom prst="ellipse">
            <a:avLst/>
          </a:prstGeom>
          <a:noFill/>
          <a:ln cap="flat" cmpd="sng" w="762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0" name="Google Shape;90;p18"/>
          <p:cNvSpPr/>
          <p:nvPr/>
        </p:nvSpPr>
        <p:spPr>
          <a:xfrm>
            <a:off x="4701375" y="2834050"/>
            <a:ext cx="996300" cy="703500"/>
          </a:xfrm>
          <a:prstGeom prst="ellipse">
            <a:avLst/>
          </a:prstGeom>
          <a:noFill/>
          <a:ln cap="flat" cmpd="sng" w="762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4" name="Shape 94"/>
        <p:cNvGrpSpPr/>
        <p:nvPr/>
      </p:nvGrpSpPr>
      <p:grpSpPr>
        <a:xfrm>
          <a:off x="0" y="0"/>
          <a:ext cx="0" cy="0"/>
          <a:chOff x="0" y="0"/>
          <a:chExt cx="0" cy="0"/>
        </a:xfrm>
      </p:grpSpPr>
      <p:sp>
        <p:nvSpPr>
          <p:cNvPr id="95" name="Google Shape;95;p19"/>
          <p:cNvSpPr txBox="1"/>
          <p:nvPr>
            <p:ph idx="1" type="body"/>
          </p:nvPr>
        </p:nvSpPr>
        <p:spPr>
          <a:xfrm>
            <a:off x="311700" y="445025"/>
            <a:ext cx="37644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sz="2700">
                <a:solidFill>
                  <a:schemeClr val="dk1"/>
                </a:solidFill>
              </a:rPr>
              <a:t>UML Usage diagram 1</a:t>
            </a:r>
            <a:endParaRPr sz="2700">
              <a:solidFill>
                <a:schemeClr val="dk1"/>
              </a:solidFill>
            </a:endParaRPr>
          </a:p>
        </p:txBody>
      </p:sp>
      <p:sp>
        <p:nvSpPr>
          <p:cNvPr id="96" name="Google Shape;96;p19"/>
          <p:cNvSpPr txBox="1"/>
          <p:nvPr/>
        </p:nvSpPr>
        <p:spPr>
          <a:xfrm>
            <a:off x="311700" y="1501050"/>
            <a:ext cx="3764400" cy="212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1"/>
                </a:solidFill>
              </a:rPr>
              <a:t>The different types of actors all represent end-users with different modes of engaging with the app. </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0" lvl="0" marL="0" rtl="0" algn="l">
              <a:spcBef>
                <a:spcPts val="0"/>
              </a:spcBef>
              <a:spcAft>
                <a:spcPts val="0"/>
              </a:spcAft>
              <a:buNone/>
            </a:pPr>
            <a:r>
              <a:rPr lang="en" sz="1800">
                <a:solidFill>
                  <a:schemeClr val="dk1"/>
                </a:solidFill>
              </a:rPr>
              <a:t>These are the three types of users we expect to use this app, and the roles are not mutually exclusive</a:t>
            </a:r>
            <a:endParaRPr sz="1800">
              <a:solidFill>
                <a:schemeClr val="dk1"/>
              </a:solidFill>
            </a:endParaRPr>
          </a:p>
        </p:txBody>
      </p:sp>
      <p:pic>
        <p:nvPicPr>
          <p:cNvPr id="97" name="Google Shape;97;p19" title="checkpoint1 usage diagram.drawio.png"/>
          <p:cNvPicPr preferRelativeResize="0"/>
          <p:nvPr/>
        </p:nvPicPr>
        <p:blipFill>
          <a:blip r:embed="rId3">
            <a:alphaModFix/>
          </a:blip>
          <a:stretch>
            <a:fillRect/>
          </a:stretch>
        </p:blipFill>
        <p:spPr>
          <a:xfrm>
            <a:off x="4228500" y="551850"/>
            <a:ext cx="4677443" cy="3820977"/>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1" name="Shape 101"/>
        <p:cNvGrpSpPr/>
        <p:nvPr/>
      </p:nvGrpSpPr>
      <p:grpSpPr>
        <a:xfrm>
          <a:off x="0" y="0"/>
          <a:ext cx="0" cy="0"/>
          <a:chOff x="0" y="0"/>
          <a:chExt cx="0" cy="0"/>
        </a:xfrm>
      </p:grpSpPr>
      <p:sp>
        <p:nvSpPr>
          <p:cNvPr id="102" name="Google Shape;102;p20"/>
          <p:cNvSpPr txBox="1"/>
          <p:nvPr>
            <p:ph idx="1" type="body"/>
          </p:nvPr>
        </p:nvSpPr>
        <p:spPr>
          <a:xfrm>
            <a:off x="311700" y="445025"/>
            <a:ext cx="39168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sz="2700">
                <a:solidFill>
                  <a:schemeClr val="dk1"/>
                </a:solidFill>
              </a:rPr>
              <a:t>UML Usage diagram 2</a:t>
            </a:r>
            <a:endParaRPr sz="2700">
              <a:solidFill>
                <a:schemeClr val="dk1"/>
              </a:solidFill>
            </a:endParaRPr>
          </a:p>
        </p:txBody>
      </p:sp>
      <p:sp>
        <p:nvSpPr>
          <p:cNvPr id="103" name="Google Shape;103;p20"/>
          <p:cNvSpPr txBox="1"/>
          <p:nvPr/>
        </p:nvSpPr>
        <p:spPr>
          <a:xfrm>
            <a:off x="311700" y="1501050"/>
            <a:ext cx="3764400" cy="2955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1"/>
                </a:solidFill>
              </a:rPr>
              <a:t>The sharer wants to show other users certain interesting items</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0" lvl="0" marL="0" rtl="0" algn="l">
              <a:spcBef>
                <a:spcPts val="0"/>
              </a:spcBef>
              <a:spcAft>
                <a:spcPts val="0"/>
              </a:spcAft>
              <a:buNone/>
            </a:pPr>
            <a:r>
              <a:rPr lang="en" sz="1800">
                <a:solidFill>
                  <a:schemeClr val="dk1"/>
                </a:solidFill>
              </a:rPr>
              <a:t>The journaler is focused mostly on recording a personal catalogue of items in a structured format</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0" lvl="0" marL="0" rtl="0" algn="l">
              <a:spcBef>
                <a:spcPts val="0"/>
              </a:spcBef>
              <a:spcAft>
                <a:spcPts val="0"/>
              </a:spcAft>
              <a:buNone/>
            </a:pPr>
            <a:r>
              <a:rPr lang="en" sz="1800">
                <a:solidFill>
                  <a:schemeClr val="dk1"/>
                </a:solidFill>
              </a:rPr>
              <a:t>The browser wants to see what interesting items other people have shared</a:t>
            </a:r>
            <a:endParaRPr sz="1800">
              <a:solidFill>
                <a:schemeClr val="dk1"/>
              </a:solidFill>
            </a:endParaRPr>
          </a:p>
        </p:txBody>
      </p:sp>
      <p:pic>
        <p:nvPicPr>
          <p:cNvPr id="104" name="Google Shape;104;p20" title="checkpoint1 usage diagram.drawio.png"/>
          <p:cNvPicPr preferRelativeResize="0"/>
          <p:nvPr/>
        </p:nvPicPr>
        <p:blipFill>
          <a:blip r:embed="rId3">
            <a:alphaModFix/>
          </a:blip>
          <a:stretch>
            <a:fillRect/>
          </a:stretch>
        </p:blipFill>
        <p:spPr>
          <a:xfrm>
            <a:off x="4228500" y="551850"/>
            <a:ext cx="4677443" cy="3820977"/>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SQL relations 1</a:t>
            </a:r>
            <a:endParaRPr/>
          </a:p>
        </p:txBody>
      </p:sp>
      <p:sp>
        <p:nvSpPr>
          <p:cNvPr id="110" name="Google Shape;110;p21"/>
          <p:cNvSpPr txBox="1"/>
          <p:nvPr>
            <p:ph idx="1" type="body"/>
          </p:nvPr>
        </p:nvSpPr>
        <p:spPr>
          <a:xfrm>
            <a:off x="311700" y="1152475"/>
            <a:ext cx="3988200" cy="3416400"/>
          </a:xfrm>
          <a:prstGeom prst="rect">
            <a:avLst/>
          </a:prstGeom>
        </p:spPr>
        <p:txBody>
          <a:bodyPr anchorCtr="0" anchor="t" bIns="91425" lIns="91425" spcFirstLastPara="1" rIns="91425" wrap="square" tIns="91425">
            <a:normAutofit fontScale="85000" lnSpcReduction="20000"/>
          </a:bodyPr>
          <a:lstStyle/>
          <a:p>
            <a:pPr indent="0" lvl="0" marL="0" rtl="0" algn="l">
              <a:spcBef>
                <a:spcPts val="1600"/>
              </a:spcBef>
              <a:spcAft>
                <a:spcPts val="0"/>
              </a:spcAft>
              <a:buClr>
                <a:schemeClr val="dk1"/>
              </a:buClr>
              <a:buSzPct val="78571"/>
              <a:buFont typeface="Arial"/>
              <a:buNone/>
            </a:pPr>
            <a:r>
              <a:rPr lang="en" sz="1400">
                <a:solidFill>
                  <a:srgbClr val="434343"/>
                </a:solidFill>
              </a:rPr>
              <a:t>User</a:t>
            </a:r>
            <a:endParaRPr sz="1400">
              <a:solidFill>
                <a:srgbClr val="434343"/>
              </a:solidFill>
            </a:endParaRPr>
          </a:p>
          <a:p>
            <a:pPr indent="0" lvl="0" marL="0" rtl="0" algn="l">
              <a:spcBef>
                <a:spcPts val="1200"/>
              </a:spcBef>
              <a:spcAft>
                <a:spcPts val="0"/>
              </a:spcAft>
              <a:buClr>
                <a:schemeClr val="dk1"/>
              </a:buClr>
              <a:buSzPct val="91667"/>
              <a:buFont typeface="Arial"/>
              <a:buNone/>
            </a:pPr>
            <a:r>
              <a:rPr lang="en" sz="1200">
                <a:solidFill>
                  <a:schemeClr val="dk1"/>
                </a:solidFill>
                <a:latin typeface="Consolas"/>
                <a:ea typeface="Consolas"/>
                <a:cs typeface="Consolas"/>
                <a:sym typeface="Consolas"/>
              </a:rPr>
              <a:t>CREATE TABLE user (</a:t>
            </a:r>
            <a:br>
              <a:rPr lang="en" sz="1200">
                <a:solidFill>
                  <a:schemeClr val="dk1"/>
                </a:solidFill>
                <a:latin typeface="Consolas"/>
                <a:ea typeface="Consolas"/>
                <a:cs typeface="Consolas"/>
                <a:sym typeface="Consolas"/>
              </a:rPr>
            </a:br>
            <a:r>
              <a:rPr lang="en" sz="1200">
                <a:solidFill>
                  <a:schemeClr val="dk1"/>
                </a:solidFill>
                <a:latin typeface="Consolas"/>
                <a:ea typeface="Consolas"/>
                <a:cs typeface="Consolas"/>
                <a:sym typeface="Consolas"/>
              </a:rPr>
              <a:t> username char(20) not null,</a:t>
            </a:r>
            <a:br>
              <a:rPr lang="en" sz="1200">
                <a:solidFill>
                  <a:schemeClr val="dk1"/>
                </a:solidFill>
                <a:latin typeface="Consolas"/>
                <a:ea typeface="Consolas"/>
                <a:cs typeface="Consolas"/>
                <a:sym typeface="Consolas"/>
              </a:rPr>
            </a:br>
            <a:r>
              <a:rPr lang="en" sz="1200">
                <a:solidFill>
                  <a:schemeClr val="dk1"/>
                </a:solidFill>
                <a:latin typeface="Consolas"/>
                <a:ea typeface="Consolas"/>
                <a:cs typeface="Consolas"/>
                <a:sym typeface="Consolas"/>
              </a:rPr>
              <a:t> password char(20) not null,</a:t>
            </a:r>
            <a:br>
              <a:rPr lang="en" sz="1200">
                <a:solidFill>
                  <a:schemeClr val="dk1"/>
                </a:solidFill>
                <a:latin typeface="Consolas"/>
                <a:ea typeface="Consolas"/>
                <a:cs typeface="Consolas"/>
                <a:sym typeface="Consolas"/>
              </a:rPr>
            </a:br>
            <a:r>
              <a:rPr lang="en" sz="1200">
                <a:solidFill>
                  <a:schemeClr val="dk1"/>
                </a:solidFill>
                <a:latin typeface="Consolas"/>
                <a:ea typeface="Consolas"/>
                <a:cs typeface="Consolas"/>
                <a:sym typeface="Consolas"/>
              </a:rPr>
              <a:t> PRIMARY KEY (username)</a:t>
            </a:r>
            <a:br>
              <a:rPr lang="en" sz="1200">
                <a:solidFill>
                  <a:schemeClr val="dk1"/>
                </a:solidFill>
                <a:latin typeface="Consolas"/>
                <a:ea typeface="Consolas"/>
                <a:cs typeface="Consolas"/>
                <a:sym typeface="Consolas"/>
              </a:rPr>
            </a:br>
            <a:r>
              <a:rPr lang="en" sz="1200">
                <a:solidFill>
                  <a:schemeClr val="dk1"/>
                </a:solidFill>
                <a:latin typeface="Consolas"/>
                <a:ea typeface="Consolas"/>
                <a:cs typeface="Consolas"/>
                <a:sym typeface="Consolas"/>
              </a:rPr>
              <a:t>);</a:t>
            </a:r>
            <a:endParaRPr sz="1200">
              <a:solidFill>
                <a:schemeClr val="dk1"/>
              </a:solidFill>
            </a:endParaRPr>
          </a:p>
          <a:p>
            <a:pPr indent="0" lvl="0" marL="0" rtl="0" algn="l">
              <a:spcBef>
                <a:spcPts val="1600"/>
              </a:spcBef>
              <a:spcAft>
                <a:spcPts val="0"/>
              </a:spcAft>
              <a:buClr>
                <a:schemeClr val="dk1"/>
              </a:buClr>
              <a:buSzPct val="78571"/>
              <a:buFont typeface="Arial"/>
              <a:buNone/>
            </a:pPr>
            <a:r>
              <a:rPr lang="en" sz="1400">
                <a:solidFill>
                  <a:srgbClr val="434343"/>
                </a:solidFill>
              </a:rPr>
              <a:t>Artifact</a:t>
            </a:r>
            <a:endParaRPr sz="1400">
              <a:solidFill>
                <a:srgbClr val="434343"/>
              </a:solidFill>
            </a:endParaRPr>
          </a:p>
          <a:p>
            <a:pPr indent="0" lvl="0" marL="0" rtl="0" algn="l">
              <a:spcBef>
                <a:spcPts val="400"/>
              </a:spcBef>
              <a:spcAft>
                <a:spcPts val="0"/>
              </a:spcAft>
              <a:buClr>
                <a:schemeClr val="dk1"/>
              </a:buClr>
              <a:buSzPct val="100000"/>
              <a:buFont typeface="Arial"/>
              <a:buNone/>
            </a:pPr>
            <a:r>
              <a:rPr lang="en" sz="1100">
                <a:solidFill>
                  <a:schemeClr val="dk1"/>
                </a:solidFill>
              </a:rPr>
              <a:t>Artifact is the chosen technical term used for items that can be linked in this project. Since subclasses are not mutually exclusive in ER diagrams, note that it is possible for an artifact to be both a message and an external record, though for most cases an artifact will be one or another.</a:t>
            </a:r>
            <a:endParaRPr sz="1100">
              <a:solidFill>
                <a:schemeClr val="dk1"/>
              </a:solidFill>
            </a:endParaRPr>
          </a:p>
          <a:p>
            <a:pPr indent="0" lvl="0" marL="0" rtl="0" algn="l">
              <a:spcBef>
                <a:spcPts val="1200"/>
              </a:spcBef>
              <a:spcAft>
                <a:spcPts val="1200"/>
              </a:spcAft>
              <a:buNone/>
            </a:pPr>
            <a:r>
              <a:rPr lang="en" sz="1200">
                <a:solidFill>
                  <a:schemeClr val="dk1"/>
                </a:solidFill>
                <a:latin typeface="Consolas"/>
                <a:ea typeface="Consolas"/>
                <a:cs typeface="Consolas"/>
                <a:sym typeface="Consolas"/>
              </a:rPr>
              <a:t>CREATE TABLE artifact (</a:t>
            </a:r>
            <a:br>
              <a:rPr lang="en" sz="1200">
                <a:solidFill>
                  <a:schemeClr val="dk1"/>
                </a:solidFill>
                <a:latin typeface="Consolas"/>
                <a:ea typeface="Consolas"/>
                <a:cs typeface="Consolas"/>
                <a:sym typeface="Consolas"/>
              </a:rPr>
            </a:br>
            <a:r>
              <a:rPr lang="en" sz="1200">
                <a:solidFill>
                  <a:schemeClr val="dk1"/>
                </a:solidFill>
                <a:latin typeface="Consolas"/>
                <a:ea typeface="Consolas"/>
                <a:cs typeface="Consolas"/>
                <a:sym typeface="Consolas"/>
              </a:rPr>
              <a:t>  artifact_id decimal(9, 0) not null,</a:t>
            </a:r>
            <a:br>
              <a:rPr lang="en" sz="1200">
                <a:solidFill>
                  <a:schemeClr val="dk1"/>
                </a:solidFill>
                <a:latin typeface="Consolas"/>
                <a:ea typeface="Consolas"/>
                <a:cs typeface="Consolas"/>
                <a:sym typeface="Consolas"/>
              </a:rPr>
            </a:br>
            <a:r>
              <a:rPr lang="en" sz="1200">
                <a:solidFill>
                  <a:schemeClr val="dk1"/>
                </a:solidFill>
                <a:latin typeface="Consolas"/>
                <a:ea typeface="Consolas"/>
                <a:cs typeface="Consolas"/>
                <a:sym typeface="Consolas"/>
              </a:rPr>
              <a:t>  views integer not null,</a:t>
            </a:r>
            <a:br>
              <a:rPr lang="en" sz="1200">
                <a:solidFill>
                  <a:schemeClr val="dk1"/>
                </a:solidFill>
                <a:latin typeface="Consolas"/>
                <a:ea typeface="Consolas"/>
                <a:cs typeface="Consolas"/>
                <a:sym typeface="Consolas"/>
              </a:rPr>
            </a:br>
            <a:r>
              <a:rPr lang="en" sz="1200">
                <a:solidFill>
                  <a:schemeClr val="dk1"/>
                </a:solidFill>
                <a:latin typeface="Consolas"/>
                <a:ea typeface="Consolas"/>
                <a:cs typeface="Consolas"/>
                <a:sym typeface="Consolas"/>
              </a:rPr>
              <a:t>  username char(20) not null, -- CreatedArtifact</a:t>
            </a:r>
            <a:br>
              <a:rPr lang="en" sz="1200">
                <a:solidFill>
                  <a:schemeClr val="dk1"/>
                </a:solidFill>
                <a:latin typeface="Consolas"/>
                <a:ea typeface="Consolas"/>
                <a:cs typeface="Consolas"/>
                <a:sym typeface="Consolas"/>
              </a:rPr>
            </a:br>
            <a:r>
              <a:rPr lang="en" sz="1200">
                <a:solidFill>
                  <a:schemeClr val="dk1"/>
                </a:solidFill>
                <a:latin typeface="Consolas"/>
                <a:ea typeface="Consolas"/>
                <a:cs typeface="Consolas"/>
                <a:sym typeface="Consolas"/>
              </a:rPr>
              <a:t>  PRIMARY KEY (artifact_id)</a:t>
            </a:r>
            <a:br>
              <a:rPr lang="en" sz="1200">
                <a:solidFill>
                  <a:schemeClr val="dk1"/>
                </a:solidFill>
                <a:latin typeface="Consolas"/>
                <a:ea typeface="Consolas"/>
                <a:cs typeface="Consolas"/>
                <a:sym typeface="Consolas"/>
              </a:rPr>
            </a:br>
            <a:r>
              <a:rPr lang="en" sz="1200">
                <a:solidFill>
                  <a:schemeClr val="dk1"/>
                </a:solidFill>
                <a:latin typeface="Consolas"/>
                <a:ea typeface="Consolas"/>
                <a:cs typeface="Consolas"/>
                <a:sym typeface="Consolas"/>
              </a:rPr>
              <a:t>);</a:t>
            </a:r>
            <a:endParaRPr sz="1200"/>
          </a:p>
        </p:txBody>
      </p:sp>
      <p:sp>
        <p:nvSpPr>
          <p:cNvPr id="111" name="Google Shape;111;p21"/>
          <p:cNvSpPr txBox="1"/>
          <p:nvPr>
            <p:ph idx="1" type="body"/>
          </p:nvPr>
        </p:nvSpPr>
        <p:spPr>
          <a:xfrm>
            <a:off x="4844100" y="1152475"/>
            <a:ext cx="3988200" cy="3416400"/>
          </a:xfrm>
          <a:prstGeom prst="rect">
            <a:avLst/>
          </a:prstGeom>
        </p:spPr>
        <p:txBody>
          <a:bodyPr anchorCtr="0" anchor="t" bIns="91425" lIns="91425" spcFirstLastPara="1" rIns="91425" wrap="square" tIns="91425">
            <a:normAutofit fontScale="77500" lnSpcReduction="20000"/>
          </a:bodyPr>
          <a:lstStyle/>
          <a:p>
            <a:pPr indent="0" lvl="0" marL="0" rtl="0" algn="l">
              <a:spcBef>
                <a:spcPts val="1600"/>
              </a:spcBef>
              <a:spcAft>
                <a:spcPts val="0"/>
              </a:spcAft>
              <a:buClr>
                <a:schemeClr val="dk1"/>
              </a:buClr>
              <a:buSzPct val="78571"/>
              <a:buFont typeface="Arial"/>
              <a:buNone/>
            </a:pPr>
            <a:r>
              <a:rPr lang="en" sz="1400">
                <a:solidFill>
                  <a:srgbClr val="434343"/>
                </a:solidFill>
              </a:rPr>
              <a:t>Message</a:t>
            </a:r>
            <a:endParaRPr sz="1400">
              <a:solidFill>
                <a:srgbClr val="434343"/>
              </a:solidFill>
            </a:endParaRPr>
          </a:p>
          <a:p>
            <a:pPr indent="0" lvl="0" marL="0" rtl="0" algn="l">
              <a:spcBef>
                <a:spcPts val="400"/>
              </a:spcBef>
              <a:spcAft>
                <a:spcPts val="0"/>
              </a:spcAft>
              <a:buClr>
                <a:schemeClr val="dk1"/>
              </a:buClr>
              <a:buSzPct val="100000"/>
              <a:buFont typeface="Arial"/>
              <a:buNone/>
            </a:pPr>
            <a:r>
              <a:rPr lang="en" sz="1100">
                <a:solidFill>
                  <a:schemeClr val="dk1"/>
                </a:solidFill>
              </a:rPr>
              <a:t>This is the relation containing what would normally be called posts or comments in other social media apps.</a:t>
            </a:r>
            <a:endParaRPr sz="1100">
              <a:solidFill>
                <a:schemeClr val="dk1"/>
              </a:solidFill>
            </a:endParaRPr>
          </a:p>
          <a:p>
            <a:pPr indent="0" lvl="0" marL="0" rtl="0" algn="l">
              <a:spcBef>
                <a:spcPts val="1200"/>
              </a:spcBef>
              <a:spcAft>
                <a:spcPts val="0"/>
              </a:spcAft>
              <a:buClr>
                <a:schemeClr val="dk1"/>
              </a:buClr>
              <a:buSzPct val="91667"/>
              <a:buFont typeface="Arial"/>
              <a:buNone/>
            </a:pPr>
            <a:r>
              <a:rPr lang="en" sz="1200">
                <a:solidFill>
                  <a:schemeClr val="dk1"/>
                </a:solidFill>
                <a:latin typeface="Consolas"/>
                <a:ea typeface="Consolas"/>
                <a:cs typeface="Consolas"/>
                <a:sym typeface="Consolas"/>
              </a:rPr>
              <a:t>CREATE TABLE message (</a:t>
            </a:r>
            <a:br>
              <a:rPr lang="en" sz="1200">
                <a:solidFill>
                  <a:schemeClr val="dk1"/>
                </a:solidFill>
                <a:latin typeface="Consolas"/>
                <a:ea typeface="Consolas"/>
                <a:cs typeface="Consolas"/>
                <a:sym typeface="Consolas"/>
              </a:rPr>
            </a:br>
            <a:r>
              <a:rPr lang="en" sz="1200">
                <a:solidFill>
                  <a:schemeClr val="dk1"/>
                </a:solidFill>
                <a:latin typeface="Consolas"/>
                <a:ea typeface="Consolas"/>
                <a:cs typeface="Consolas"/>
                <a:sym typeface="Consolas"/>
              </a:rPr>
              <a:t>  artifact_id decimal(9, 0) not null,</a:t>
            </a:r>
            <a:br>
              <a:rPr lang="en" sz="1200">
                <a:solidFill>
                  <a:schemeClr val="dk1"/>
                </a:solidFill>
                <a:latin typeface="Consolas"/>
                <a:ea typeface="Consolas"/>
                <a:cs typeface="Consolas"/>
                <a:sym typeface="Consolas"/>
              </a:rPr>
            </a:br>
            <a:r>
              <a:rPr lang="en" sz="1200">
                <a:solidFill>
                  <a:schemeClr val="dk1"/>
                </a:solidFill>
                <a:latin typeface="Consolas"/>
                <a:ea typeface="Consolas"/>
                <a:cs typeface="Consolas"/>
                <a:sym typeface="Consolas"/>
              </a:rPr>
              <a:t>  topic_id decimal(9, 0) not null, -- MessageIn</a:t>
            </a:r>
            <a:br>
              <a:rPr lang="en" sz="1200">
                <a:solidFill>
                  <a:schemeClr val="dk1"/>
                </a:solidFill>
                <a:latin typeface="Consolas"/>
                <a:ea typeface="Consolas"/>
                <a:cs typeface="Consolas"/>
                <a:sym typeface="Consolas"/>
              </a:rPr>
            </a:br>
            <a:r>
              <a:rPr lang="en" sz="1200">
                <a:solidFill>
                  <a:schemeClr val="dk1"/>
                </a:solidFill>
                <a:latin typeface="Consolas"/>
                <a:ea typeface="Consolas"/>
                <a:cs typeface="Consolas"/>
                <a:sym typeface="Consolas"/>
              </a:rPr>
              <a:t>  -- char and varchar have very limited length</a:t>
            </a:r>
            <a:br>
              <a:rPr lang="en" sz="1200">
                <a:solidFill>
                  <a:schemeClr val="dk1"/>
                </a:solidFill>
                <a:latin typeface="Consolas"/>
                <a:ea typeface="Consolas"/>
                <a:cs typeface="Consolas"/>
                <a:sym typeface="Consolas"/>
              </a:rPr>
            </a:br>
            <a:r>
              <a:rPr lang="en" sz="1200">
                <a:solidFill>
                  <a:schemeClr val="dk1"/>
                </a:solidFill>
                <a:latin typeface="Consolas"/>
                <a:ea typeface="Consolas"/>
                <a:cs typeface="Consolas"/>
                <a:sym typeface="Consolas"/>
              </a:rPr>
              <a:t>  content text not null</a:t>
            </a:r>
            <a:br>
              <a:rPr lang="en" sz="1200">
                <a:solidFill>
                  <a:schemeClr val="dk1"/>
                </a:solidFill>
                <a:latin typeface="Consolas"/>
                <a:ea typeface="Consolas"/>
                <a:cs typeface="Consolas"/>
                <a:sym typeface="Consolas"/>
              </a:rPr>
            </a:br>
            <a:r>
              <a:rPr lang="en" sz="1200">
                <a:solidFill>
                  <a:schemeClr val="dk1"/>
                </a:solidFill>
                <a:latin typeface="Consolas"/>
                <a:ea typeface="Consolas"/>
                <a:cs typeface="Consolas"/>
                <a:sym typeface="Consolas"/>
              </a:rPr>
              <a:t>);</a:t>
            </a:r>
            <a:endParaRPr sz="1200">
              <a:solidFill>
                <a:schemeClr val="dk1"/>
              </a:solidFill>
              <a:latin typeface="Consolas"/>
              <a:ea typeface="Consolas"/>
              <a:cs typeface="Consolas"/>
              <a:sym typeface="Consolas"/>
            </a:endParaRPr>
          </a:p>
          <a:p>
            <a:pPr indent="0" lvl="0" marL="0" rtl="0" algn="l">
              <a:spcBef>
                <a:spcPts val="1600"/>
              </a:spcBef>
              <a:spcAft>
                <a:spcPts val="0"/>
              </a:spcAft>
              <a:buClr>
                <a:schemeClr val="dk1"/>
              </a:buClr>
              <a:buSzPct val="78571"/>
              <a:buFont typeface="Arial"/>
              <a:buNone/>
            </a:pPr>
            <a:r>
              <a:rPr lang="en" sz="1400">
                <a:solidFill>
                  <a:srgbClr val="434343"/>
                </a:solidFill>
              </a:rPr>
              <a:t>External Record</a:t>
            </a:r>
            <a:endParaRPr sz="1400">
              <a:solidFill>
                <a:srgbClr val="434343"/>
              </a:solidFill>
            </a:endParaRPr>
          </a:p>
          <a:p>
            <a:pPr indent="0" lvl="0" marL="0" rtl="0" algn="l">
              <a:spcBef>
                <a:spcPts val="400"/>
              </a:spcBef>
              <a:spcAft>
                <a:spcPts val="0"/>
              </a:spcAft>
              <a:buClr>
                <a:schemeClr val="dk1"/>
              </a:buClr>
              <a:buSzPct val="100000"/>
              <a:buFont typeface="Arial"/>
              <a:buNone/>
            </a:pPr>
            <a:r>
              <a:rPr lang="en" sz="1100">
                <a:solidFill>
                  <a:schemeClr val="dk1"/>
                </a:solidFill>
              </a:rPr>
              <a:t>This represents an item that is stored and uniquely identified in an external database. The most general case is for the external identifier to consist of a URL. A more specific example of an external identifier is an ISBN for a book.</a:t>
            </a:r>
            <a:endParaRPr sz="1100">
              <a:solidFill>
                <a:schemeClr val="dk1"/>
              </a:solidFill>
            </a:endParaRPr>
          </a:p>
          <a:p>
            <a:pPr indent="0" lvl="0" marL="0" rtl="0" algn="l">
              <a:spcBef>
                <a:spcPts val="1200"/>
              </a:spcBef>
              <a:spcAft>
                <a:spcPts val="1200"/>
              </a:spcAft>
              <a:buNone/>
            </a:pPr>
            <a:r>
              <a:rPr lang="en" sz="1200">
                <a:solidFill>
                  <a:schemeClr val="dk1"/>
                </a:solidFill>
                <a:latin typeface="Consolas"/>
                <a:ea typeface="Consolas"/>
                <a:cs typeface="Consolas"/>
                <a:sym typeface="Consolas"/>
              </a:rPr>
              <a:t>CREATE TABLE externalrecord (</a:t>
            </a:r>
            <a:br>
              <a:rPr lang="en" sz="1200">
                <a:solidFill>
                  <a:schemeClr val="dk1"/>
                </a:solidFill>
                <a:latin typeface="Consolas"/>
                <a:ea typeface="Consolas"/>
                <a:cs typeface="Consolas"/>
                <a:sym typeface="Consolas"/>
              </a:rPr>
            </a:br>
            <a:r>
              <a:rPr lang="en" sz="1200">
                <a:solidFill>
                  <a:schemeClr val="dk1"/>
                </a:solidFill>
                <a:latin typeface="Consolas"/>
                <a:ea typeface="Consolas"/>
                <a:cs typeface="Consolas"/>
                <a:sym typeface="Consolas"/>
              </a:rPr>
              <a:t>  artifact_id decimal(9, 0) not null,</a:t>
            </a:r>
            <a:br>
              <a:rPr lang="en" sz="1200">
                <a:solidFill>
                  <a:schemeClr val="dk1"/>
                </a:solidFill>
                <a:latin typeface="Consolas"/>
                <a:ea typeface="Consolas"/>
                <a:cs typeface="Consolas"/>
                <a:sym typeface="Consolas"/>
              </a:rPr>
            </a:br>
            <a:r>
              <a:rPr lang="en" sz="1200">
                <a:solidFill>
                  <a:schemeClr val="dk1"/>
                </a:solidFill>
                <a:latin typeface="Consolas"/>
                <a:ea typeface="Consolas"/>
                <a:cs typeface="Consolas"/>
                <a:sym typeface="Consolas"/>
              </a:rPr>
              <a:t>  external_database_id decimal(9, 0) not null,</a:t>
            </a:r>
            <a:br>
              <a:rPr lang="en" sz="1200">
                <a:solidFill>
                  <a:schemeClr val="dk1"/>
                </a:solidFill>
                <a:latin typeface="Consolas"/>
                <a:ea typeface="Consolas"/>
                <a:cs typeface="Consolas"/>
                <a:sym typeface="Consolas"/>
              </a:rPr>
            </a:br>
            <a:r>
              <a:rPr lang="en" sz="1200">
                <a:solidFill>
                  <a:schemeClr val="dk1"/>
                </a:solidFill>
                <a:latin typeface="Consolas"/>
                <a:ea typeface="Consolas"/>
                <a:cs typeface="Consolas"/>
                <a:sym typeface="Consolas"/>
              </a:rPr>
              <a:t>  external_identifier varchar(200) not null</a:t>
            </a:r>
            <a:br>
              <a:rPr lang="en" sz="1200">
                <a:solidFill>
                  <a:schemeClr val="dk1"/>
                </a:solidFill>
                <a:latin typeface="Consolas"/>
                <a:ea typeface="Consolas"/>
                <a:cs typeface="Consolas"/>
                <a:sym typeface="Consolas"/>
              </a:rPr>
            </a:br>
            <a:r>
              <a:rPr lang="en" sz="1200">
                <a:solidFill>
                  <a:schemeClr val="dk1"/>
                </a:solidFill>
                <a:latin typeface="Consolas"/>
                <a:ea typeface="Consolas"/>
                <a:cs typeface="Consolas"/>
                <a:sym typeface="Consolas"/>
              </a:rPr>
              <a:t>);</a:t>
            </a:r>
            <a:endParaRPr sz="1400">
              <a:solidFill>
                <a:srgbClr val="434343"/>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SQL relations 2</a:t>
            </a:r>
            <a:endParaRPr/>
          </a:p>
        </p:txBody>
      </p:sp>
      <p:sp>
        <p:nvSpPr>
          <p:cNvPr id="117" name="Google Shape;117;p22"/>
          <p:cNvSpPr txBox="1"/>
          <p:nvPr>
            <p:ph idx="1" type="body"/>
          </p:nvPr>
        </p:nvSpPr>
        <p:spPr>
          <a:xfrm>
            <a:off x="311700" y="1152475"/>
            <a:ext cx="3988200" cy="3416400"/>
          </a:xfrm>
          <a:prstGeom prst="rect">
            <a:avLst/>
          </a:prstGeom>
        </p:spPr>
        <p:txBody>
          <a:bodyPr anchorCtr="0" anchor="t" bIns="91425" lIns="91425" spcFirstLastPara="1" rIns="91425" wrap="square" tIns="91425">
            <a:normAutofit lnSpcReduction="20000"/>
          </a:bodyPr>
          <a:lstStyle/>
          <a:p>
            <a:pPr indent="0" lvl="0" marL="0" rtl="0" algn="l">
              <a:spcBef>
                <a:spcPts val="1600"/>
              </a:spcBef>
              <a:spcAft>
                <a:spcPts val="0"/>
              </a:spcAft>
              <a:buNone/>
            </a:pPr>
            <a:r>
              <a:rPr lang="en" sz="1400">
                <a:solidFill>
                  <a:srgbClr val="434343"/>
                </a:solidFill>
              </a:rPr>
              <a:t>Topic</a:t>
            </a:r>
            <a:endParaRPr sz="1400">
              <a:solidFill>
                <a:srgbClr val="434343"/>
              </a:solidFill>
            </a:endParaRPr>
          </a:p>
          <a:p>
            <a:pPr indent="0" lvl="0" marL="0" rtl="0" algn="l">
              <a:spcBef>
                <a:spcPts val="400"/>
              </a:spcBef>
              <a:spcAft>
                <a:spcPts val="0"/>
              </a:spcAft>
              <a:buNone/>
            </a:pPr>
            <a:r>
              <a:rPr lang="en" sz="1100">
                <a:solidFill>
                  <a:schemeClr val="dk1"/>
                </a:solidFill>
              </a:rPr>
              <a:t>A general collection of items, with the current only subclass being a thread of messages as would be seen in a forum.</a:t>
            </a:r>
            <a:endParaRPr sz="1100">
              <a:solidFill>
                <a:schemeClr val="dk1"/>
              </a:solidFill>
            </a:endParaRPr>
          </a:p>
          <a:p>
            <a:pPr indent="0" lvl="0" marL="0" rtl="0" algn="l">
              <a:spcBef>
                <a:spcPts val="1200"/>
              </a:spcBef>
              <a:spcAft>
                <a:spcPts val="0"/>
              </a:spcAft>
              <a:buNone/>
            </a:pPr>
            <a:r>
              <a:rPr lang="en" sz="1200">
                <a:solidFill>
                  <a:schemeClr val="dk1"/>
                </a:solidFill>
                <a:latin typeface="Consolas"/>
                <a:ea typeface="Consolas"/>
                <a:cs typeface="Consolas"/>
                <a:sym typeface="Consolas"/>
              </a:rPr>
              <a:t>CREATE TABLE topic (</a:t>
            </a:r>
            <a:br>
              <a:rPr lang="en" sz="1200">
                <a:solidFill>
                  <a:schemeClr val="dk1"/>
                </a:solidFill>
                <a:latin typeface="Consolas"/>
                <a:ea typeface="Consolas"/>
                <a:cs typeface="Consolas"/>
                <a:sym typeface="Consolas"/>
              </a:rPr>
            </a:br>
            <a:r>
              <a:rPr lang="en" sz="1200">
                <a:solidFill>
                  <a:schemeClr val="dk1"/>
                </a:solidFill>
                <a:latin typeface="Consolas"/>
                <a:ea typeface="Consolas"/>
                <a:cs typeface="Consolas"/>
                <a:sym typeface="Consolas"/>
              </a:rPr>
              <a:t>  topic_id decimal(9, 0) not null,</a:t>
            </a:r>
            <a:br>
              <a:rPr lang="en" sz="1200">
                <a:solidFill>
                  <a:schemeClr val="dk1"/>
                </a:solidFill>
                <a:latin typeface="Consolas"/>
                <a:ea typeface="Consolas"/>
                <a:cs typeface="Consolas"/>
                <a:sym typeface="Consolas"/>
              </a:rPr>
            </a:br>
            <a:r>
              <a:rPr lang="en" sz="1200">
                <a:solidFill>
                  <a:schemeClr val="dk1"/>
                </a:solidFill>
                <a:latin typeface="Consolas"/>
                <a:ea typeface="Consolas"/>
                <a:cs typeface="Consolas"/>
                <a:sym typeface="Consolas"/>
              </a:rPr>
              <a:t>  username char(20) not null, -- CreatedTopic</a:t>
            </a:r>
            <a:br>
              <a:rPr lang="en" sz="1200">
                <a:solidFill>
                  <a:schemeClr val="dk1"/>
                </a:solidFill>
                <a:latin typeface="Consolas"/>
                <a:ea typeface="Consolas"/>
                <a:cs typeface="Consolas"/>
                <a:sym typeface="Consolas"/>
              </a:rPr>
            </a:br>
            <a:r>
              <a:rPr lang="en" sz="1200">
                <a:solidFill>
                  <a:schemeClr val="dk1"/>
                </a:solidFill>
                <a:latin typeface="Consolas"/>
                <a:ea typeface="Consolas"/>
                <a:cs typeface="Consolas"/>
                <a:sym typeface="Consolas"/>
              </a:rPr>
              <a:t>  PRIMARY KEY (topic_id)</a:t>
            </a:r>
            <a:br>
              <a:rPr lang="en" sz="1200">
                <a:solidFill>
                  <a:schemeClr val="dk1"/>
                </a:solidFill>
                <a:latin typeface="Consolas"/>
                <a:ea typeface="Consolas"/>
                <a:cs typeface="Consolas"/>
                <a:sym typeface="Consolas"/>
              </a:rPr>
            </a:br>
            <a:r>
              <a:rPr lang="en" sz="1200">
                <a:solidFill>
                  <a:schemeClr val="dk1"/>
                </a:solidFill>
                <a:latin typeface="Consolas"/>
                <a:ea typeface="Consolas"/>
                <a:cs typeface="Consolas"/>
                <a:sym typeface="Consolas"/>
              </a:rPr>
              <a:t>);</a:t>
            </a:r>
            <a:endParaRPr sz="1200">
              <a:solidFill>
                <a:schemeClr val="dk1"/>
              </a:solidFill>
              <a:latin typeface="Consolas"/>
              <a:ea typeface="Consolas"/>
              <a:cs typeface="Consolas"/>
              <a:sym typeface="Consolas"/>
            </a:endParaRPr>
          </a:p>
          <a:p>
            <a:pPr indent="0" lvl="0" marL="0" rtl="0" algn="l">
              <a:spcBef>
                <a:spcPts val="1600"/>
              </a:spcBef>
              <a:spcAft>
                <a:spcPts val="0"/>
              </a:spcAft>
              <a:buNone/>
            </a:pPr>
            <a:r>
              <a:rPr lang="en" sz="1400">
                <a:solidFill>
                  <a:srgbClr val="434343"/>
                </a:solidFill>
              </a:rPr>
              <a:t>Forum Thread</a:t>
            </a:r>
            <a:endParaRPr sz="1200">
              <a:solidFill>
                <a:srgbClr val="4A86E8"/>
              </a:solidFill>
            </a:endParaRPr>
          </a:p>
          <a:p>
            <a:pPr indent="0" lvl="0" marL="0" rtl="0" algn="l">
              <a:spcBef>
                <a:spcPts val="1200"/>
              </a:spcBef>
              <a:spcAft>
                <a:spcPts val="1200"/>
              </a:spcAft>
              <a:buNone/>
            </a:pPr>
            <a:r>
              <a:rPr lang="en" sz="1200">
                <a:solidFill>
                  <a:schemeClr val="dk1"/>
                </a:solidFill>
                <a:latin typeface="Consolas"/>
                <a:ea typeface="Consolas"/>
                <a:cs typeface="Consolas"/>
                <a:sym typeface="Consolas"/>
              </a:rPr>
              <a:t>CREATE TABLE forumthread (</a:t>
            </a:r>
            <a:br>
              <a:rPr lang="en" sz="1200">
                <a:solidFill>
                  <a:schemeClr val="dk1"/>
                </a:solidFill>
                <a:latin typeface="Consolas"/>
                <a:ea typeface="Consolas"/>
                <a:cs typeface="Consolas"/>
                <a:sym typeface="Consolas"/>
              </a:rPr>
            </a:br>
            <a:r>
              <a:rPr lang="en" sz="1200">
                <a:solidFill>
                  <a:schemeClr val="dk1"/>
                </a:solidFill>
                <a:latin typeface="Consolas"/>
                <a:ea typeface="Consolas"/>
                <a:cs typeface="Consolas"/>
                <a:sym typeface="Consolas"/>
              </a:rPr>
              <a:t>  topic_id decimal(9, 0) not null,</a:t>
            </a:r>
            <a:br>
              <a:rPr lang="en" sz="1200">
                <a:solidFill>
                  <a:schemeClr val="dk1"/>
                </a:solidFill>
                <a:latin typeface="Consolas"/>
                <a:ea typeface="Consolas"/>
                <a:cs typeface="Consolas"/>
                <a:sym typeface="Consolas"/>
              </a:rPr>
            </a:br>
            <a:r>
              <a:rPr lang="en" sz="1200">
                <a:solidFill>
                  <a:schemeClr val="dk1"/>
                </a:solidFill>
                <a:latin typeface="Consolas"/>
                <a:ea typeface="Consolas"/>
                <a:cs typeface="Consolas"/>
                <a:sym typeface="Consolas"/>
              </a:rPr>
              <a:t>  artifact_id decimal(9, 0) not null -- RootMessage</a:t>
            </a:r>
            <a:br>
              <a:rPr lang="en" sz="1200">
                <a:solidFill>
                  <a:schemeClr val="dk1"/>
                </a:solidFill>
                <a:latin typeface="Consolas"/>
                <a:ea typeface="Consolas"/>
                <a:cs typeface="Consolas"/>
                <a:sym typeface="Consolas"/>
              </a:rPr>
            </a:br>
            <a:r>
              <a:rPr lang="en" sz="1200">
                <a:solidFill>
                  <a:schemeClr val="dk1"/>
                </a:solidFill>
                <a:latin typeface="Consolas"/>
                <a:ea typeface="Consolas"/>
                <a:cs typeface="Consolas"/>
                <a:sym typeface="Consolas"/>
              </a:rPr>
              <a:t>);</a:t>
            </a:r>
            <a:endParaRPr sz="1400">
              <a:solidFill>
                <a:srgbClr val="434343"/>
              </a:solidFill>
            </a:endParaRPr>
          </a:p>
        </p:txBody>
      </p:sp>
      <p:sp>
        <p:nvSpPr>
          <p:cNvPr id="118" name="Google Shape;118;p22"/>
          <p:cNvSpPr txBox="1"/>
          <p:nvPr>
            <p:ph idx="1" type="body"/>
          </p:nvPr>
        </p:nvSpPr>
        <p:spPr>
          <a:xfrm>
            <a:off x="4844100" y="1152475"/>
            <a:ext cx="3988200" cy="3416400"/>
          </a:xfrm>
          <a:prstGeom prst="rect">
            <a:avLst/>
          </a:prstGeom>
        </p:spPr>
        <p:txBody>
          <a:bodyPr anchorCtr="0" anchor="t" bIns="91425" lIns="91425" spcFirstLastPara="1" rIns="91425" wrap="square" tIns="91425">
            <a:normAutofit/>
          </a:bodyPr>
          <a:lstStyle/>
          <a:p>
            <a:pPr indent="0" lvl="0" marL="0" rtl="0" algn="l">
              <a:spcBef>
                <a:spcPts val="1600"/>
              </a:spcBef>
              <a:spcAft>
                <a:spcPts val="0"/>
              </a:spcAft>
              <a:buNone/>
            </a:pPr>
            <a:r>
              <a:rPr lang="en" sz="1400">
                <a:solidFill>
                  <a:srgbClr val="434343"/>
                </a:solidFill>
              </a:rPr>
              <a:t>External Database</a:t>
            </a:r>
            <a:endParaRPr sz="1200">
              <a:solidFill>
                <a:srgbClr val="4A86E8"/>
              </a:solidFill>
            </a:endParaRPr>
          </a:p>
          <a:p>
            <a:pPr indent="0" lvl="0" marL="0" rtl="0" algn="l">
              <a:spcBef>
                <a:spcPts val="1200"/>
              </a:spcBef>
              <a:spcAft>
                <a:spcPts val="1200"/>
              </a:spcAft>
              <a:buNone/>
            </a:pPr>
            <a:r>
              <a:rPr lang="en" sz="1200">
                <a:solidFill>
                  <a:schemeClr val="dk1"/>
                </a:solidFill>
                <a:latin typeface="Consolas"/>
                <a:ea typeface="Consolas"/>
                <a:cs typeface="Consolas"/>
                <a:sym typeface="Consolas"/>
              </a:rPr>
              <a:t>CREATE TABLE externaldatabase (</a:t>
            </a:r>
            <a:br>
              <a:rPr lang="en" sz="1200">
                <a:solidFill>
                  <a:schemeClr val="dk1"/>
                </a:solidFill>
                <a:latin typeface="Consolas"/>
                <a:ea typeface="Consolas"/>
                <a:cs typeface="Consolas"/>
                <a:sym typeface="Consolas"/>
              </a:rPr>
            </a:br>
            <a:r>
              <a:rPr lang="en" sz="1200">
                <a:solidFill>
                  <a:schemeClr val="dk1"/>
                </a:solidFill>
                <a:latin typeface="Consolas"/>
                <a:ea typeface="Consolas"/>
                <a:cs typeface="Consolas"/>
                <a:sym typeface="Consolas"/>
              </a:rPr>
              <a:t>  external_database_id decimal(9, 0) not null,</a:t>
            </a:r>
            <a:br>
              <a:rPr lang="en" sz="1200">
                <a:solidFill>
                  <a:schemeClr val="dk1"/>
                </a:solidFill>
                <a:latin typeface="Consolas"/>
                <a:ea typeface="Consolas"/>
                <a:cs typeface="Consolas"/>
                <a:sym typeface="Consolas"/>
              </a:rPr>
            </a:br>
            <a:r>
              <a:rPr lang="en" sz="1200">
                <a:solidFill>
                  <a:schemeClr val="dk1"/>
                </a:solidFill>
                <a:latin typeface="Consolas"/>
                <a:ea typeface="Consolas"/>
                <a:cs typeface="Consolas"/>
                <a:sym typeface="Consolas"/>
              </a:rPr>
              <a:t>  PRIMARY KEY(external_database_id)</a:t>
            </a:r>
            <a:br>
              <a:rPr lang="en" sz="1200">
                <a:solidFill>
                  <a:schemeClr val="dk1"/>
                </a:solidFill>
                <a:latin typeface="Consolas"/>
                <a:ea typeface="Consolas"/>
                <a:cs typeface="Consolas"/>
                <a:sym typeface="Consolas"/>
              </a:rPr>
            </a:br>
            <a:r>
              <a:rPr lang="en" sz="1200">
                <a:solidFill>
                  <a:schemeClr val="dk1"/>
                </a:solidFill>
                <a:latin typeface="Consolas"/>
                <a:ea typeface="Consolas"/>
                <a:cs typeface="Consolas"/>
                <a:sym typeface="Consolas"/>
              </a:rPr>
              <a:t>);</a:t>
            </a:r>
            <a:endParaRPr sz="1400">
              <a:solidFill>
                <a:srgbClr val="434343"/>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SQL relations 3</a:t>
            </a:r>
            <a:endParaRPr/>
          </a:p>
        </p:txBody>
      </p:sp>
      <p:sp>
        <p:nvSpPr>
          <p:cNvPr id="124" name="Google Shape;124;p23"/>
          <p:cNvSpPr txBox="1"/>
          <p:nvPr>
            <p:ph idx="1" type="body"/>
          </p:nvPr>
        </p:nvSpPr>
        <p:spPr>
          <a:xfrm>
            <a:off x="311700" y="1152475"/>
            <a:ext cx="3988200" cy="3416400"/>
          </a:xfrm>
          <a:prstGeom prst="rect">
            <a:avLst/>
          </a:prstGeom>
        </p:spPr>
        <p:txBody>
          <a:bodyPr anchorCtr="0" anchor="t" bIns="91425" lIns="91425" spcFirstLastPara="1" rIns="91425" wrap="square" tIns="91425">
            <a:normAutofit/>
          </a:bodyPr>
          <a:lstStyle/>
          <a:p>
            <a:pPr indent="0" lvl="0" marL="0" rtl="0" algn="l">
              <a:spcBef>
                <a:spcPts val="1600"/>
              </a:spcBef>
              <a:spcAft>
                <a:spcPts val="0"/>
              </a:spcAft>
              <a:buNone/>
            </a:pPr>
            <a:r>
              <a:rPr lang="en" sz="1400">
                <a:solidFill>
                  <a:srgbClr val="434343"/>
                </a:solidFill>
              </a:rPr>
              <a:t>Follows</a:t>
            </a:r>
            <a:endParaRPr sz="1400">
              <a:solidFill>
                <a:srgbClr val="434343"/>
              </a:solidFill>
            </a:endParaRPr>
          </a:p>
          <a:p>
            <a:pPr indent="0" lvl="0" marL="0" rtl="0" algn="l">
              <a:spcBef>
                <a:spcPts val="400"/>
              </a:spcBef>
              <a:spcAft>
                <a:spcPts val="0"/>
              </a:spcAft>
              <a:buNone/>
            </a:pPr>
            <a:r>
              <a:rPr lang="en" sz="1100">
                <a:solidFill>
                  <a:schemeClr val="dk1"/>
                </a:solidFill>
              </a:rPr>
              <a:t>This relation and the two relations afterward are all used to represent many-to-many relationships from the ER diagram.</a:t>
            </a:r>
            <a:endParaRPr sz="1100">
              <a:solidFill>
                <a:schemeClr val="dk1"/>
              </a:solidFill>
            </a:endParaRPr>
          </a:p>
          <a:p>
            <a:pPr indent="0" lvl="0" marL="0" rtl="0" algn="l">
              <a:spcBef>
                <a:spcPts val="1200"/>
              </a:spcBef>
              <a:spcAft>
                <a:spcPts val="0"/>
              </a:spcAft>
              <a:buNone/>
            </a:pPr>
            <a:r>
              <a:rPr lang="en" sz="1200">
                <a:solidFill>
                  <a:schemeClr val="dk1"/>
                </a:solidFill>
                <a:latin typeface="Consolas"/>
                <a:ea typeface="Consolas"/>
                <a:cs typeface="Consolas"/>
                <a:sym typeface="Consolas"/>
              </a:rPr>
              <a:t>CREATE TABLE follows (</a:t>
            </a:r>
            <a:br>
              <a:rPr lang="en" sz="1200">
                <a:solidFill>
                  <a:schemeClr val="dk1"/>
                </a:solidFill>
                <a:latin typeface="Consolas"/>
                <a:ea typeface="Consolas"/>
                <a:cs typeface="Consolas"/>
                <a:sym typeface="Consolas"/>
              </a:rPr>
            </a:br>
            <a:r>
              <a:rPr lang="en" sz="1200">
                <a:solidFill>
                  <a:schemeClr val="dk1"/>
                </a:solidFill>
                <a:latin typeface="Consolas"/>
                <a:ea typeface="Consolas"/>
                <a:cs typeface="Consolas"/>
                <a:sym typeface="Consolas"/>
              </a:rPr>
              <a:t> follower char(20) not null,</a:t>
            </a:r>
            <a:br>
              <a:rPr lang="en" sz="1200">
                <a:solidFill>
                  <a:schemeClr val="dk1"/>
                </a:solidFill>
                <a:latin typeface="Consolas"/>
                <a:ea typeface="Consolas"/>
                <a:cs typeface="Consolas"/>
                <a:sym typeface="Consolas"/>
              </a:rPr>
            </a:br>
            <a:r>
              <a:rPr lang="en" sz="1200">
                <a:solidFill>
                  <a:schemeClr val="dk1"/>
                </a:solidFill>
                <a:latin typeface="Consolas"/>
                <a:ea typeface="Consolas"/>
                <a:cs typeface="Consolas"/>
                <a:sym typeface="Consolas"/>
              </a:rPr>
              <a:t> following char(20) not null</a:t>
            </a:r>
            <a:br>
              <a:rPr lang="en" sz="1200">
                <a:solidFill>
                  <a:schemeClr val="dk1"/>
                </a:solidFill>
                <a:latin typeface="Consolas"/>
                <a:ea typeface="Consolas"/>
                <a:cs typeface="Consolas"/>
                <a:sym typeface="Consolas"/>
              </a:rPr>
            </a:br>
            <a:r>
              <a:rPr lang="en" sz="1200">
                <a:solidFill>
                  <a:schemeClr val="dk1"/>
                </a:solidFill>
                <a:latin typeface="Consolas"/>
                <a:ea typeface="Consolas"/>
                <a:cs typeface="Consolas"/>
                <a:sym typeface="Consolas"/>
              </a:rPr>
              <a:t>);</a:t>
            </a:r>
            <a:endParaRPr sz="1200">
              <a:solidFill>
                <a:schemeClr val="dk1"/>
              </a:solidFill>
              <a:latin typeface="Consolas"/>
              <a:ea typeface="Consolas"/>
              <a:cs typeface="Consolas"/>
              <a:sym typeface="Consolas"/>
            </a:endParaRPr>
          </a:p>
          <a:p>
            <a:pPr indent="0" lvl="0" marL="0" rtl="0" algn="l">
              <a:spcBef>
                <a:spcPts val="1600"/>
              </a:spcBef>
              <a:spcAft>
                <a:spcPts val="0"/>
              </a:spcAft>
              <a:buNone/>
            </a:pPr>
            <a:r>
              <a:rPr lang="en" sz="1400">
                <a:solidFill>
                  <a:srgbClr val="434343"/>
                </a:solidFill>
              </a:rPr>
              <a:t>Likes Artifact</a:t>
            </a:r>
            <a:endParaRPr sz="1200">
              <a:solidFill>
                <a:srgbClr val="4A86E8"/>
              </a:solidFill>
            </a:endParaRPr>
          </a:p>
          <a:p>
            <a:pPr indent="0" lvl="0" marL="0" rtl="0" algn="l">
              <a:spcBef>
                <a:spcPts val="1200"/>
              </a:spcBef>
              <a:spcAft>
                <a:spcPts val="1200"/>
              </a:spcAft>
              <a:buNone/>
            </a:pPr>
            <a:r>
              <a:rPr lang="en" sz="1200">
                <a:solidFill>
                  <a:schemeClr val="dk1"/>
                </a:solidFill>
                <a:latin typeface="Consolas"/>
                <a:ea typeface="Consolas"/>
                <a:cs typeface="Consolas"/>
                <a:sym typeface="Consolas"/>
              </a:rPr>
              <a:t>CREATE TABLE likesartifact (</a:t>
            </a:r>
            <a:br>
              <a:rPr lang="en" sz="1200">
                <a:solidFill>
                  <a:schemeClr val="dk1"/>
                </a:solidFill>
                <a:latin typeface="Consolas"/>
                <a:ea typeface="Consolas"/>
                <a:cs typeface="Consolas"/>
                <a:sym typeface="Consolas"/>
              </a:rPr>
            </a:br>
            <a:r>
              <a:rPr lang="en" sz="1200">
                <a:solidFill>
                  <a:schemeClr val="dk1"/>
                </a:solidFill>
                <a:latin typeface="Consolas"/>
                <a:ea typeface="Consolas"/>
                <a:cs typeface="Consolas"/>
                <a:sym typeface="Consolas"/>
              </a:rPr>
              <a:t> username char(20) not null,</a:t>
            </a:r>
            <a:br>
              <a:rPr lang="en" sz="1200">
                <a:solidFill>
                  <a:schemeClr val="dk1"/>
                </a:solidFill>
                <a:latin typeface="Consolas"/>
                <a:ea typeface="Consolas"/>
                <a:cs typeface="Consolas"/>
                <a:sym typeface="Consolas"/>
              </a:rPr>
            </a:br>
            <a:r>
              <a:rPr lang="en" sz="1200">
                <a:solidFill>
                  <a:schemeClr val="dk1"/>
                </a:solidFill>
                <a:latin typeface="Consolas"/>
                <a:ea typeface="Consolas"/>
                <a:cs typeface="Consolas"/>
                <a:sym typeface="Consolas"/>
              </a:rPr>
              <a:t> artifact_id decimal(9, 0) not null</a:t>
            </a:r>
            <a:br>
              <a:rPr lang="en" sz="1200">
                <a:solidFill>
                  <a:schemeClr val="dk1"/>
                </a:solidFill>
                <a:latin typeface="Consolas"/>
                <a:ea typeface="Consolas"/>
                <a:cs typeface="Consolas"/>
                <a:sym typeface="Consolas"/>
              </a:rPr>
            </a:br>
            <a:r>
              <a:rPr lang="en" sz="1200">
                <a:solidFill>
                  <a:schemeClr val="dk1"/>
                </a:solidFill>
                <a:latin typeface="Consolas"/>
                <a:ea typeface="Consolas"/>
                <a:cs typeface="Consolas"/>
                <a:sym typeface="Consolas"/>
              </a:rPr>
              <a:t>);</a:t>
            </a:r>
            <a:endParaRPr sz="1400">
              <a:solidFill>
                <a:srgbClr val="434343"/>
              </a:solidFill>
            </a:endParaRPr>
          </a:p>
        </p:txBody>
      </p:sp>
      <p:sp>
        <p:nvSpPr>
          <p:cNvPr id="125" name="Google Shape;125;p23"/>
          <p:cNvSpPr txBox="1"/>
          <p:nvPr>
            <p:ph idx="1" type="body"/>
          </p:nvPr>
        </p:nvSpPr>
        <p:spPr>
          <a:xfrm>
            <a:off x="4844100" y="1152475"/>
            <a:ext cx="3988200" cy="3416400"/>
          </a:xfrm>
          <a:prstGeom prst="rect">
            <a:avLst/>
          </a:prstGeom>
        </p:spPr>
        <p:txBody>
          <a:bodyPr anchorCtr="0" anchor="t" bIns="91425" lIns="91425" spcFirstLastPara="1" rIns="91425" wrap="square" tIns="91425">
            <a:normAutofit/>
          </a:bodyPr>
          <a:lstStyle/>
          <a:p>
            <a:pPr indent="0" lvl="0" marL="0" rtl="0" algn="l">
              <a:spcBef>
                <a:spcPts val="1600"/>
              </a:spcBef>
              <a:spcAft>
                <a:spcPts val="0"/>
              </a:spcAft>
              <a:buNone/>
            </a:pPr>
            <a:r>
              <a:rPr lang="en" sz="1400">
                <a:solidFill>
                  <a:srgbClr val="434343"/>
                </a:solidFill>
              </a:rPr>
              <a:t>Internal Link</a:t>
            </a:r>
            <a:endParaRPr sz="1400">
              <a:solidFill>
                <a:srgbClr val="434343"/>
              </a:solidFill>
            </a:endParaRPr>
          </a:p>
          <a:p>
            <a:pPr indent="0" lvl="0" marL="0" rtl="0" algn="l">
              <a:spcBef>
                <a:spcPts val="400"/>
              </a:spcBef>
              <a:spcAft>
                <a:spcPts val="0"/>
              </a:spcAft>
              <a:buNone/>
            </a:pPr>
            <a:r>
              <a:rPr lang="en" sz="1100">
                <a:solidFill>
                  <a:schemeClr val="dk1"/>
                </a:solidFill>
              </a:rPr>
              <a:t>Links can be created between different artifacts. Some link types are predefined and have a standard meaning, such as marking that artifact 1 is an adaptation of artifact 2. Users are also able to define their own link types, which do not have a predefined meaning and can represent any sort of relationship between the two artifacts.</a:t>
            </a:r>
            <a:endParaRPr sz="1100">
              <a:solidFill>
                <a:schemeClr val="dk1"/>
              </a:solidFill>
            </a:endParaRPr>
          </a:p>
          <a:p>
            <a:pPr indent="0" lvl="0" marL="0" rtl="0" algn="l">
              <a:spcBef>
                <a:spcPts val="1200"/>
              </a:spcBef>
              <a:spcAft>
                <a:spcPts val="1200"/>
              </a:spcAft>
              <a:buNone/>
            </a:pPr>
            <a:r>
              <a:rPr lang="en" sz="1200">
                <a:solidFill>
                  <a:schemeClr val="dk1"/>
                </a:solidFill>
                <a:latin typeface="Consolas"/>
                <a:ea typeface="Consolas"/>
                <a:cs typeface="Consolas"/>
                <a:sym typeface="Consolas"/>
              </a:rPr>
              <a:t>CREATE TABLE internallink (</a:t>
            </a:r>
            <a:br>
              <a:rPr lang="en" sz="1200">
                <a:solidFill>
                  <a:schemeClr val="dk1"/>
                </a:solidFill>
                <a:latin typeface="Consolas"/>
                <a:ea typeface="Consolas"/>
                <a:cs typeface="Consolas"/>
                <a:sym typeface="Consolas"/>
              </a:rPr>
            </a:br>
            <a:r>
              <a:rPr lang="en" sz="1200">
                <a:solidFill>
                  <a:schemeClr val="dk1"/>
                </a:solidFill>
                <a:latin typeface="Consolas"/>
                <a:ea typeface="Consolas"/>
                <a:cs typeface="Consolas"/>
                <a:sym typeface="Consolas"/>
              </a:rPr>
              <a:t> artifact_1 decimal(9, 0) not null,</a:t>
            </a:r>
            <a:br>
              <a:rPr lang="en" sz="1200">
                <a:solidFill>
                  <a:schemeClr val="dk1"/>
                </a:solidFill>
                <a:latin typeface="Consolas"/>
                <a:ea typeface="Consolas"/>
                <a:cs typeface="Consolas"/>
                <a:sym typeface="Consolas"/>
              </a:rPr>
            </a:br>
            <a:r>
              <a:rPr lang="en" sz="1200">
                <a:solidFill>
                  <a:schemeClr val="dk1"/>
                </a:solidFill>
                <a:latin typeface="Consolas"/>
                <a:ea typeface="Consolas"/>
                <a:cs typeface="Consolas"/>
                <a:sym typeface="Consolas"/>
              </a:rPr>
              <a:t> artifact_2 decimal(9, 0) not null,</a:t>
            </a:r>
            <a:br>
              <a:rPr lang="en" sz="1200">
                <a:solidFill>
                  <a:schemeClr val="dk1"/>
                </a:solidFill>
                <a:latin typeface="Consolas"/>
                <a:ea typeface="Consolas"/>
                <a:cs typeface="Consolas"/>
                <a:sym typeface="Consolas"/>
              </a:rPr>
            </a:br>
            <a:r>
              <a:rPr lang="en" sz="1200">
                <a:solidFill>
                  <a:schemeClr val="dk1"/>
                </a:solidFill>
                <a:latin typeface="Consolas"/>
                <a:ea typeface="Consolas"/>
                <a:cs typeface="Consolas"/>
                <a:sym typeface="Consolas"/>
              </a:rPr>
              <a:t> link_type char(20) not null</a:t>
            </a:r>
            <a:br>
              <a:rPr lang="en" sz="1200">
                <a:solidFill>
                  <a:schemeClr val="dk1"/>
                </a:solidFill>
                <a:latin typeface="Consolas"/>
                <a:ea typeface="Consolas"/>
                <a:cs typeface="Consolas"/>
                <a:sym typeface="Consolas"/>
              </a:rPr>
            </a:br>
            <a:r>
              <a:rPr lang="en" sz="1200">
                <a:solidFill>
                  <a:schemeClr val="dk1"/>
                </a:solidFill>
                <a:latin typeface="Consolas"/>
                <a:ea typeface="Consolas"/>
                <a:cs typeface="Consolas"/>
                <a:sym typeface="Consolas"/>
              </a:rPr>
              <a:t>);</a:t>
            </a:r>
            <a:endParaRPr sz="1400">
              <a:solidFill>
                <a:srgbClr val="434343"/>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